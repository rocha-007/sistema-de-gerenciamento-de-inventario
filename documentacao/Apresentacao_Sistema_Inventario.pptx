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40a0de89554925" /><Relationship Type="http://schemas.openxmlformats.org/officeDocument/2006/relationships/extended-properties" Target="/docProps/app.xml" Id="R1c0a7f251940401f" /><Relationship Type="http://schemas.openxmlformats.org/officeDocument/2006/relationships/officeDocument" Target="/ppt/presentation.xml" Id="R53ae81414d5f4c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0c478a1783489b"/>
  </p:sldMasterIdLst>
  <p:notesMasterIdLst>
    <p:notesMasterId xmlns:r="http://schemas.openxmlformats.org/officeDocument/2006/relationships" r:id="R11e73277cb72449e"/>
  </p:notesMasterIdLst>
  <p:sldIdLst>
    <p:sldId xmlns:r="http://schemas.openxmlformats.org/officeDocument/2006/relationships" id="256" r:id="Rbb21a62a2e434f0e"/>
    <p:sldId xmlns:r="http://schemas.openxmlformats.org/officeDocument/2006/relationships" id="257" r:id="R263676849f894063"/>
    <p:sldId xmlns:r="http://schemas.openxmlformats.org/officeDocument/2006/relationships" id="258" r:id="R91b7f8e9869b4c5a"/>
    <p:sldId xmlns:r="http://schemas.openxmlformats.org/officeDocument/2006/relationships" id="259" r:id="R709860ac7cd54bd4"/>
    <p:sldId xmlns:r="http://schemas.openxmlformats.org/officeDocument/2006/relationships" id="260" r:id="Rc3213b2d6fb8411e"/>
    <p:sldId xmlns:r="http://schemas.openxmlformats.org/officeDocument/2006/relationships" id="261" r:id="R2b4b60b3fb244aec"/>
    <p:sldId xmlns:r="http://schemas.openxmlformats.org/officeDocument/2006/relationships" id="262" r:id="Re27343926aa441e9"/>
    <p:sldId xmlns:r="http://schemas.openxmlformats.org/officeDocument/2006/relationships" id="263" r:id="R50ffe455832649cd"/>
    <p:sldId xmlns:r="http://schemas.openxmlformats.org/officeDocument/2006/relationships" id="264" r:id="R286a2249dcfe4361"/>
    <p:sldId xmlns:r="http://schemas.openxmlformats.org/officeDocument/2006/relationships" id="265" r:id="R1048611df5364146"/>
    <p:sldId xmlns:r="http://schemas.openxmlformats.org/officeDocument/2006/relationships" id="266" r:id="R4c308f7237804392"/>
    <p:sldId xmlns:r="http://schemas.openxmlformats.org/officeDocument/2006/relationships" id="267" r:id="R96fb7add34c24893"/>
    <p:sldId xmlns:r="http://schemas.openxmlformats.org/officeDocument/2006/relationships" id="268" r:id="R90be9ffeda944cb1"/>
    <p:sldId xmlns:r="http://schemas.openxmlformats.org/officeDocument/2006/relationships" id="269" r:id="R1ab8c1a96d3644d6"/>
    <p:sldId xmlns:r="http://schemas.openxmlformats.org/officeDocument/2006/relationships" id="270" r:id="R825aa685aa794b19"/>
    <p:sldId xmlns:r="http://schemas.openxmlformats.org/officeDocument/2006/relationships" id="271" r:id="Rddc1d86dd296411b"/>
    <p:sldId xmlns:r="http://schemas.openxmlformats.org/officeDocument/2006/relationships" id="272" r:id="R17db445f54d44233"/>
    <p:sldId xmlns:r="http://schemas.openxmlformats.org/officeDocument/2006/relationships" id="273" r:id="R2aa2baa5a610445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20cbf2f61a49f0" /><Relationship Type="http://schemas.openxmlformats.org/officeDocument/2006/relationships/slideMaster" Target="/ppt/slideMasters/slideMaster1.xml" Id="Rc20c478a1783489b" /><Relationship Type="http://schemas.openxmlformats.org/officeDocument/2006/relationships/notesMaster" Target="/ppt/notesMasters/notesMaster1.xml" Id="R11e73277cb72449e" /><Relationship Type="http://schemas.openxmlformats.org/officeDocument/2006/relationships/presProps" Target="/ppt/presProps.xml" Id="R4842e0904ca7404b" /><Relationship Type="http://schemas.openxmlformats.org/officeDocument/2006/relationships/tableStyles" Target="/ppt/tableStyles.xml" Id="R2cb638484b564a2c" /><Relationship Type="http://schemas.openxmlformats.org/officeDocument/2006/relationships/slide" Target="/ppt/slides/slide1.xml" Id="Rbb21a62a2e434f0e" /><Relationship Type="http://schemas.openxmlformats.org/officeDocument/2006/relationships/slide" Target="/ppt/slides/slide2.xml" Id="R263676849f894063" /><Relationship Type="http://schemas.openxmlformats.org/officeDocument/2006/relationships/slide" Target="/ppt/slides/slide3.xml" Id="R91b7f8e9869b4c5a" /><Relationship Type="http://schemas.openxmlformats.org/officeDocument/2006/relationships/slide" Target="/ppt/slides/slide4.xml" Id="R709860ac7cd54bd4" /><Relationship Type="http://schemas.openxmlformats.org/officeDocument/2006/relationships/slide" Target="/ppt/slides/slide5.xml" Id="Rc3213b2d6fb8411e" /><Relationship Type="http://schemas.openxmlformats.org/officeDocument/2006/relationships/slide" Target="/ppt/slides/slide6.xml" Id="R2b4b60b3fb244aec" /><Relationship Type="http://schemas.openxmlformats.org/officeDocument/2006/relationships/slide" Target="/ppt/slides/slide7.xml" Id="Re27343926aa441e9" /><Relationship Type="http://schemas.openxmlformats.org/officeDocument/2006/relationships/slide" Target="/ppt/slides/slide8.xml" Id="R50ffe455832649cd" /><Relationship Type="http://schemas.openxmlformats.org/officeDocument/2006/relationships/slide" Target="/ppt/slides/slide9.xml" Id="R286a2249dcfe4361" /><Relationship Type="http://schemas.openxmlformats.org/officeDocument/2006/relationships/slide" Target="/ppt/slides/slide10.xml" Id="R1048611df5364146" /><Relationship Type="http://schemas.openxmlformats.org/officeDocument/2006/relationships/slide" Target="/ppt/slides/slide11.xml" Id="R4c308f7237804392" /><Relationship Type="http://schemas.openxmlformats.org/officeDocument/2006/relationships/slide" Target="/ppt/slides/slide12.xml" Id="R96fb7add34c24893" /><Relationship Type="http://schemas.openxmlformats.org/officeDocument/2006/relationships/slide" Target="/ppt/slides/slide13.xml" Id="R90be9ffeda944cb1" /><Relationship Type="http://schemas.openxmlformats.org/officeDocument/2006/relationships/slide" Target="/ppt/slides/slide14.xml" Id="R1ab8c1a96d3644d6" /><Relationship Type="http://schemas.openxmlformats.org/officeDocument/2006/relationships/slide" Target="/ppt/slides/slide15.xml" Id="R825aa685aa794b19" /><Relationship Type="http://schemas.openxmlformats.org/officeDocument/2006/relationships/slide" Target="/ppt/slides/slide16.xml" Id="Rddc1d86dd296411b" /><Relationship Type="http://schemas.openxmlformats.org/officeDocument/2006/relationships/slide" Target="/ppt/slides/slide17.xml" Id="R17db445f54d44233" /><Relationship Type="http://schemas.openxmlformats.org/officeDocument/2006/relationships/slide" Target="/ppt/slides/slide18.xml" Id="R2aa2baa5a61044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e4f191c4be48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97cf1da0d54982" /><Relationship Type="http://schemas.openxmlformats.org/officeDocument/2006/relationships/notesMaster" Target="/ppt/notesMasters/notesMaster1.xml" Id="R1a588b217a604f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97b8245194442f" /><Relationship Type="http://schemas.openxmlformats.org/officeDocument/2006/relationships/notesMaster" Target="/ppt/notesMasters/notesMaster1.xml" Id="R2210472374be43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2f069879734638" /><Relationship Type="http://schemas.openxmlformats.org/officeDocument/2006/relationships/notesMaster" Target="/ppt/notesMasters/notesMaster1.xml" Id="Ra836e3e0da1c4c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aff7662a8c41ef" /><Relationship Type="http://schemas.openxmlformats.org/officeDocument/2006/relationships/notesMaster" Target="/ppt/notesMasters/notesMaster1.xml" Id="Ra649539350ad45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43df9095134656" /><Relationship Type="http://schemas.openxmlformats.org/officeDocument/2006/relationships/notesMaster" Target="/ppt/notesMasters/notesMaster1.xml" Id="R35f4172fe4c547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7151ace9f044ec" /><Relationship Type="http://schemas.openxmlformats.org/officeDocument/2006/relationships/notesMaster" Target="/ppt/notesMasters/notesMaster1.xml" Id="R5980e5905ac146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5cac28577c4816" /><Relationship Type="http://schemas.openxmlformats.org/officeDocument/2006/relationships/notesMaster" Target="/ppt/notesMasters/notesMaster1.xml" Id="R369678ea52144e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892fd66aec4521" /><Relationship Type="http://schemas.openxmlformats.org/officeDocument/2006/relationships/notesMaster" Target="/ppt/notesMasters/notesMaster1.xml" Id="Re6607f73f3f144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b1d9e824d24bd5" /><Relationship Type="http://schemas.openxmlformats.org/officeDocument/2006/relationships/notesMaster" Target="/ppt/notesMasters/notesMaster1.xml" Id="R00a1bc5eab0541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f6de109bf6418a" /><Relationship Type="http://schemas.openxmlformats.org/officeDocument/2006/relationships/notesMaster" Target="/ppt/notesMasters/notesMaster1.xml" Id="R1bfe557e97a64f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48ef4c0bbc4e93" /><Relationship Type="http://schemas.openxmlformats.org/officeDocument/2006/relationships/notesMaster" Target="/ppt/notesMasters/notesMaster1.xml" Id="R348fb655a0da45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2e7f7188fe4db5" /><Relationship Type="http://schemas.openxmlformats.org/officeDocument/2006/relationships/notesMaster" Target="/ppt/notesMasters/notesMaster1.xml" Id="Rc6b98b96f7844c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b75510eb7c44920" /><Relationship Type="http://schemas.openxmlformats.org/officeDocument/2006/relationships/notesMaster" Target="/ppt/notesMasters/notesMaster1.xml" Id="Re135bf257e6246e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9eca4ec09cb43e4" /><Relationship Type="http://schemas.openxmlformats.org/officeDocument/2006/relationships/notesMaster" Target="/ppt/notesMasters/notesMaster1.xml" Id="R8a176f98890b45d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2801ea81b15450e" /><Relationship Type="http://schemas.openxmlformats.org/officeDocument/2006/relationships/notesMaster" Target="/ppt/notesMasters/notesMaster1.xml" Id="Rd016a1cb0c9e40e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d83cda7b4ed4f80" /><Relationship Type="http://schemas.openxmlformats.org/officeDocument/2006/relationships/notesMaster" Target="/ppt/notesMasters/notesMaster1.xml" Id="Refa470d56ec0467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f332b202dff4310" /><Relationship Type="http://schemas.openxmlformats.org/officeDocument/2006/relationships/notesMaster" Target="/ppt/notesMasters/notesMaster1.xml" Id="Rd85c215e397148d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161d57d09e1431a" /><Relationship Type="http://schemas.openxmlformats.org/officeDocument/2006/relationships/notesMaster" Target="/ppt/notesMasters/notesMaster1.xml" Id="R77f401b06ea348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apresentando o projeto como uma integração completa, não apenas como uma tela ou uma API isolada.</a:t>
            </a:r>
          </a:p>
          <a:p xmlns:a="http://schemas.openxmlformats.org/drawingml/2006/main">
            <a:r>
              <a:t>Frase-chave: o Swing é o cliente; o Spring Boot é o servidor; o H2 guarda os dados.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o diferencial é a arquitetura, não a complexidade da regra de negócio.</a:t>
            </a:r>
          </a:p>
          <a:p xmlns:a="http://schemas.openxmlformats.org/drawingml/2006/main">
            <a:r>
              <a:t>Destaque que não existem mais registros simulados no frontend.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Percorra da esquerda para a direita.</a:t>
            </a:r>
          </a:p>
          <a:p xmlns:a="http://schemas.openxmlformats.org/drawingml/2006/main">
            <a:r>
              <a:t>A tela gera a intenção; o cliente converte em HTTP; o filtro autentica; controllers e service executam; o repository persiste.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slide para mostrar que cada pacote tem uma função específica.</a:t>
            </a:r>
          </a:p>
          <a:p xmlns:a="http://schemas.openxmlformats.org/drawingml/2006/main">
            <a:r>
              <a:t>Comente que AuthController ainda acessa repository diretamente e que isso aparece como melhoria futura.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a correção headless=false: Spring web normalmente não abre interface gráfica.</a:t>
            </a:r>
          </a:p>
          <a:p xmlns:a="http://schemas.openxmlformats.org/drawingml/2006/main">
            <a:r>
              <a:t>A tela é aberta depois que o contexto do backend está pronto.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Diga que o projeto é stateless: não existe sessão HTTP.</a:t>
            </a:r>
          </a:p>
          <a:p xmlns:a="http://schemas.openxmlformats.org/drawingml/2006/main">
            <a:r>
              <a:t>A raiz não é um frontend web; o frontend é a janela Swing.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as três partes do JWT: header, payload e signature.</a:t>
            </a:r>
          </a:p>
          <a:p xmlns:a="http://schemas.openxmlformats.org/drawingml/2006/main">
            <a:r>
              <a:t>O username fica em sub; a assinatura impede alterações; exp controla a validade.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cadastro, o usuário já recebe token e entra no sistema.</a:t>
            </a:r>
          </a:p>
          <a:p xmlns:a="http://schemas.openxmlformats.org/drawingml/2006/main">
            <a:r>
              <a:t>No login, AuthenticationManager coordena provider, UserDetailsService e BCrypt.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os métodos HTTP como verbos do CRUD.</a:t>
            </a:r>
          </a:p>
          <a:p xmlns:a="http://schemas.openxmlformats.org/drawingml/2006/main">
            <a:r>
              <a:t>GET lista/busca, POST cria, PUT atualiza e DELETE remove.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é o slide mais importante para explicar integração.</a:t>
            </a:r>
          </a:p>
          <a:p xmlns:a="http://schemas.openxmlformats.org/drawingml/2006/main">
            <a:r>
              <a:t>Destaque que a resposta volta pelo mesmo caminho e a tela recarrega a tabela.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o desenho representa a janela desktop, não uma página web.</a:t>
            </a:r>
          </a:p>
          <a:p xmlns:a="http://schemas.openxmlformats.org/drawingml/2006/main">
            <a:r>
              <a:t>SwingWorker impede o congelamento da interface durante rede.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como a seleção de uma linha define se Salvar fará POST ou PUT.</a:t>
            </a:r>
          </a:p>
          <a:p xmlns:a="http://schemas.openxmlformats.org/drawingml/2006/main">
            <a:r>
              <a:t>Novo limpa o ID; Excluir pede confirmação; Sair limpa o token.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Destaque que o mesmo cliente é usado pela interface e pelo teste de integração.</a:t>
            </a:r>
          </a:p>
          <a:p xmlns:a="http://schemas.openxmlformats.org/drawingml/2006/main">
            <a:r>
              <a:t>Jackson converte objetos em JSON e JSON em objetos Java.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com o banco de testes, que usa H2 em memória e create-drop.</a:t>
            </a:r>
          </a:p>
          <a:p xmlns:a="http://schemas.openxmlformats.org/drawingml/2006/main">
            <a:r>
              <a:t>As senhas aparecem como hash e não podem ser revertidas.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OpenAPI não é OpenAI: é o padrão de descrição da API.</a:t>
            </a:r>
          </a:p>
          <a:p xmlns:a="http://schemas.openxmlformats.org/drawingml/2006/main">
            <a:r>
              <a:t>No botão Authorize, cole apenas o token; o Swagger monta Bearer.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Informe que o último mvn test executou quatro testes sem falhas.</a:t>
            </a:r>
          </a:p>
          <a:p xmlns:a="http://schemas.openxmlformats.org/drawingml/2006/main">
            <a:r>
              <a:t>O teste de integração sobe servidor em porta aleatória e usa HTTP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como próximos passos, não como falhas escondidas.</a:t>
            </a:r>
          </a:p>
          <a:p xmlns:a="http://schemas.openxmlformats.org/drawingml/2006/main">
            <a:r>
              <a:t>O escopo atual é adequado para desenvolvimento local e apresentação acadêmica.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Encerre retomando a frase central da apresentação.</a:t>
            </a:r>
          </a:p>
          <a:p xmlns:a="http://schemas.openxmlformats.org/drawingml/2006/main">
            <a:r>
              <a:t>Depois faça a demonstração ao vivo na ordem mostrada.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ae963e372046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a7b9d391b44d6a" /><Relationship Type="http://schemas.openxmlformats.org/officeDocument/2006/relationships/slideLayout" Target="/ppt/slideLayouts/slideLayout1.xml" Id="Rc1e8062f55e34d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e8062f55e34d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4dac7008345f9" /><Relationship Type="http://schemas.openxmlformats.org/officeDocument/2006/relationships/notesSlide" Target="/ppt/notesSlides/notesSlide1.xml" Id="R8ce5619f457c48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64b7f71754a3e" /><Relationship Type="http://schemas.openxmlformats.org/officeDocument/2006/relationships/notesSlide" Target="/ppt/notesSlides/notesSlide2.xml" Id="Reae96ea4d8114d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565aa618f4bd1" /><Relationship Type="http://schemas.openxmlformats.org/officeDocument/2006/relationships/notesSlide" Target="/ppt/notesSlides/notesSlide3.xml" Id="R787e8ecb2a4544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ed8b4e0094825" /><Relationship Type="http://schemas.openxmlformats.org/officeDocument/2006/relationships/notesSlide" Target="/ppt/notesSlides/notesSlide4.xml" Id="Rbcef5383e38747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2dbd4417f4847" /><Relationship Type="http://schemas.openxmlformats.org/officeDocument/2006/relationships/notesSlide" Target="/ppt/notesSlides/notesSlide5.xml" Id="Rd1c9b23c71b947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5e11f188f4df4" /><Relationship Type="http://schemas.openxmlformats.org/officeDocument/2006/relationships/notesSlide" Target="/ppt/notesSlides/notesSlide6.xml" Id="R91b5f23fde3b41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57683ae084ff9" /><Relationship Type="http://schemas.openxmlformats.org/officeDocument/2006/relationships/notesSlide" Target="/ppt/notesSlides/notesSlide7.xml" Id="R9c5ee88ecd2d42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ae77d18604816" /><Relationship Type="http://schemas.openxmlformats.org/officeDocument/2006/relationships/notesSlide" Target="/ppt/notesSlides/notesSlide8.xml" Id="Rd2daa75a0c7741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066c3adf64589" /><Relationship Type="http://schemas.openxmlformats.org/officeDocument/2006/relationships/notesSlide" Target="/ppt/notesSlides/notesSlide9.xml" Id="R9a692166205747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31b4659f24407" /><Relationship Type="http://schemas.openxmlformats.org/officeDocument/2006/relationships/notesSlide" Target="/ppt/notesSlides/notesSlide10.xml" Id="R21f347f5eb9048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a1fdf459644d9" /><Relationship Type="http://schemas.openxmlformats.org/officeDocument/2006/relationships/notesSlide" Target="/ppt/notesSlides/notesSlide11.xml" Id="Re296ed971f7e435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f2742b5664861" /><Relationship Type="http://schemas.openxmlformats.org/officeDocument/2006/relationships/notesSlide" Target="/ppt/notesSlides/notesSlide12.xml" Id="Rb6ed91024dda424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463fdd0424359" /><Relationship Type="http://schemas.openxmlformats.org/officeDocument/2006/relationships/notesSlide" Target="/ppt/notesSlides/notesSlide13.xml" Id="Rddbd668d20a749b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c672ef4f14206" /><Relationship Type="http://schemas.openxmlformats.org/officeDocument/2006/relationships/notesSlide" Target="/ppt/notesSlides/notesSlide14.xml" Id="R20ef2fce8a834db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f618911d5491a" /><Relationship Type="http://schemas.openxmlformats.org/officeDocument/2006/relationships/notesSlide" Target="/ppt/notesSlides/notesSlide15.xml" Id="R017e5b457eb7416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d143302ee4539" /><Relationship Type="http://schemas.openxmlformats.org/officeDocument/2006/relationships/notesSlide" Target="/ppt/notesSlides/notesSlide16.xml" Id="R338cd93facec461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4d5d3bac14c5f" /><Relationship Type="http://schemas.openxmlformats.org/officeDocument/2006/relationships/notesSlide" Target="/ppt/notesSlides/notesSlide17.xml" Id="Rd5192cc9fa8a4e2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3579791ce4ef1" /><Relationship Type="http://schemas.openxmlformats.org/officeDocument/2006/relationships/notesSlide" Target="/ppt/notesSlides/notesSlide18.xml" Id="Rd7288c5940ce41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1cdsp0">
            <a:extLst xmlns:a="http://schemas.openxmlformats.org/drawingml/2006/main">
              <a:ext uri="{FF2B5EF4-FFF2-40B4-BE49-F238E27FC236}">
                <a16:creationId xmlns:a16="http://schemas.microsoft.com/office/drawing/2014/main" id="{737034DA-4B63-4AB7-8514-5324B4ED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PROJETO ACADÊMICO | JAVA 17 + SPRING BOOT</a:t>
            </a:r>
          </a:p>
        </p:txBody>
      </p:sp>
      <p:sp>
        <p:nvSpPr>
          <p:cNvPr id="2" name="text-pgh84w">
            <a:extLst xmlns:a="http://schemas.openxmlformats.org/drawingml/2006/main">
              <a:ext uri="{FF2B5EF4-FFF2-40B4-BE49-F238E27FC236}">
                <a16:creationId xmlns:a16="http://schemas.microsoft.com/office/drawing/2014/main" id="{E3485AEC-0362-4F51-A1D7-A9EC5595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52550"/>
            <a:ext cx="6477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181B"/>
                </a:solidFill>
              </a:defRPr>
            </a:pPr>
            <a:r>
              <a:rPr sz="4800" b="1">
                <a:solidFill>
                  <a:srgbClr val="17181B"/>
                </a:solidFill>
              </a:rPr>
              <a:t>Sistema de</a:t>
            </a:r>
          </a:p>
          <a:p xmlns:a="http://schemas.openxmlformats.org/drawingml/2006/main">
            <a:pPr algn="l">
              <a:defRPr sz="4800" b="1">
                <a:solidFill>
                  <a:srgbClr val="17181B"/>
                </a:solidFill>
              </a:defRPr>
            </a:pPr>
            <a:r>
              <a:rPr sz="4800" b="1">
                <a:solidFill>
                  <a:srgbClr val="17181B"/>
                </a:solidFill>
              </a:rPr>
              <a:t>Gerenciamento</a:t>
            </a:r>
          </a:p>
          <a:p xmlns:a="http://schemas.openxmlformats.org/drawingml/2006/main">
            <a:pPr algn="l">
              <a:defRPr sz="4800" b="1">
                <a:solidFill>
                  <a:srgbClr val="17181B"/>
                </a:solidFill>
              </a:defRPr>
            </a:pPr>
            <a:r>
              <a:rPr sz="4800" b="1">
                <a:solidFill>
                  <a:srgbClr val="17181B"/>
                </a:solidFill>
              </a:rPr>
              <a:t>de Inventário</a:t>
            </a:r>
          </a:p>
        </p:txBody>
      </p:sp>
      <p:sp>
        <p:nvSpPr>
          <p:cNvPr id="3" name="text-bqk5us">
            <a:extLst xmlns:a="http://schemas.openxmlformats.org/drawingml/2006/main">
              <a:ext uri="{FF2B5EF4-FFF2-40B4-BE49-F238E27FC236}">
                <a16:creationId xmlns:a16="http://schemas.microsoft.com/office/drawing/2014/main" id="{0CCBD00A-5C78-467D-84F8-62BC5959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5F66"/>
                </a:solidFill>
              </a:defRPr>
            </a:pPr>
            <a:r>
              <a:rPr sz="1650" b="0">
                <a:solidFill>
                  <a:srgbClr val="5B5F66"/>
                </a:solidFill>
              </a:rPr>
              <a:t>Frontend Swing consumindo uma API REST protegida por JWT e persistida no H2.</a:t>
            </a:r>
          </a:p>
        </p:txBody>
      </p:sp>
      <p:sp>
        <p:nvSpPr>
          <p:cNvPr id="4" name="shape-yf0kx3">
            <a:extLst xmlns:a="http://schemas.openxmlformats.org/drawingml/2006/main">
              <a:ext uri="{FF2B5EF4-FFF2-40B4-BE49-F238E27FC236}">
                <a16:creationId xmlns:a16="http://schemas.microsoft.com/office/drawing/2014/main" id="{7F44DFDA-E59B-4D48-A79B-2DF8639B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0"/>
            <a:ext cx="4667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jkkvqm">
            <a:extLst xmlns:a="http://schemas.openxmlformats.org/drawingml/2006/main">
              <a:ext uri="{FF2B5EF4-FFF2-40B4-BE49-F238E27FC236}">
                <a16:creationId xmlns:a16="http://schemas.microsoft.com/office/drawing/2014/main" id="{B207D159-E34F-49B8-A907-88F4C2CC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21920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SWING</a:t>
            </a:r>
          </a:p>
        </p:txBody>
      </p:sp>
      <p:sp>
        <p:nvSpPr>
          <p:cNvPr id="6" name="text-crpj76">
            <a:extLst xmlns:a="http://schemas.openxmlformats.org/drawingml/2006/main">
              <a:ext uri="{FF2B5EF4-FFF2-40B4-BE49-F238E27FC236}">
                <a16:creationId xmlns:a16="http://schemas.microsoft.com/office/drawing/2014/main" id="{EC20B023-42C3-4C78-991D-F43E9799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622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HTTP / JSON</a:t>
            </a:r>
          </a:p>
        </p:txBody>
      </p:sp>
      <p:sp>
        <p:nvSpPr>
          <p:cNvPr id="7" name="text-gz4lmv">
            <a:extLst xmlns:a="http://schemas.openxmlformats.org/drawingml/2006/main">
              <a:ext uri="{FF2B5EF4-FFF2-40B4-BE49-F238E27FC236}">
                <a16:creationId xmlns:a16="http://schemas.microsoft.com/office/drawing/2014/main" id="{E09940DA-0E91-420C-B995-F450B551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1470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SPRING BOOT</a:t>
            </a:r>
          </a:p>
        </p:txBody>
      </p:sp>
      <p:sp>
        <p:nvSpPr>
          <p:cNvPr id="8" name="text-fltdok">
            <a:extLst xmlns:a="http://schemas.openxmlformats.org/drawingml/2006/main">
              <a:ext uri="{FF2B5EF4-FFF2-40B4-BE49-F238E27FC236}">
                <a16:creationId xmlns:a16="http://schemas.microsoft.com/office/drawing/2014/main" id="{15228840-9BA7-4B1A-BB0B-4C379134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958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D9DC"/>
                </a:solidFill>
              </a:defRPr>
            </a:pPr>
            <a:r>
              <a:rPr sz="1725" b="0">
                <a:solidFill>
                  <a:srgbClr val="D8D9DC"/>
                </a:solidFill>
              </a:rPr>
              <a:t>JWT  •  JPA  •  H2</a:t>
            </a:r>
          </a:p>
        </p:txBody>
      </p:sp>
      <p:sp>
        <p:nvSpPr>
          <p:cNvPr id="9" name="shape-t1cy78">
            <a:extLst xmlns:a="http://schemas.openxmlformats.org/drawingml/2006/main">
              <a:ext uri="{FF2B5EF4-FFF2-40B4-BE49-F238E27FC236}">
                <a16:creationId xmlns:a16="http://schemas.microsoft.com/office/drawing/2014/main" id="{1E96F4FA-C926-4F01-9D4E-D39242CB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619750"/>
            <a:ext cx="876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485379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F51539-0B38-48E0-B864-F659CE4B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81B"/>
                </a:solidFill>
              </a:defRPr>
            </a:pPr>
            <a:r>
              <a:rPr sz="3000" b="1">
                <a:solidFill>
                  <a:srgbClr val="17181B"/>
                </a:solidFill>
              </a:rPr>
              <a:t>O que o sistema resolve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8B26DF8-11B0-472A-BDA1-C5E7DA81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5F66"/>
                </a:solidFill>
              </a:defRPr>
            </a:pPr>
            <a:r>
              <a:rPr sz="1125" b="0">
                <a:solidFill>
                  <a:srgbClr val="5B5F66"/>
                </a:solidFill>
              </a:rPr>
              <a:t>02</a:t>
            </a:r>
          </a:p>
        </p:txBody>
      </p:sp>
      <p:sp>
        <p:nvSpPr>
          <p:cNvPr id="3" name="shape-j7q13z">
            <a:extLst xmlns:a="http://schemas.openxmlformats.org/drawingml/2006/main">
              <a:ext uri="{FF2B5EF4-FFF2-40B4-BE49-F238E27FC236}">
                <a16:creationId xmlns:a16="http://schemas.microsoft.com/office/drawing/2014/main" id="{9A48E563-BA1C-422E-8EB0-9A9D8C3E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yx13le">
            <a:extLst xmlns:a="http://schemas.openxmlformats.org/drawingml/2006/main">
              <a:ext uri="{FF2B5EF4-FFF2-40B4-BE49-F238E27FC236}">
                <a16:creationId xmlns:a16="http://schemas.microsoft.com/office/drawing/2014/main" id="{C2C61618-693E-42F3-8335-8BDF30D0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09750"/>
            <a:ext cx="704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81B"/>
                </a:solidFill>
              </a:defRPr>
            </a:pPr>
            <a:r>
              <a:rPr sz="2325" b="1">
                <a:solidFill>
                  <a:srgbClr val="17181B"/>
                </a:solidFill>
              </a:rPr>
              <a:t>Um inventário simples, mas com separação real entre interface, negócio e dados.</a:t>
            </a:r>
          </a:p>
        </p:txBody>
      </p:sp>
      <p:sp>
        <p:nvSpPr>
          <p:cNvPr id="5" name="shape-6hv0bd">
            <a:extLst xmlns:a="http://schemas.openxmlformats.org/drawingml/2006/main">
              <a:ext uri="{FF2B5EF4-FFF2-40B4-BE49-F238E27FC236}">
                <a16:creationId xmlns:a16="http://schemas.microsoft.com/office/drawing/2014/main" id="{C156325C-0A30-4897-AAB8-312D0ECF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q2iucp">
            <a:extLst xmlns:a="http://schemas.openxmlformats.org/drawingml/2006/main">
              <a:ext uri="{FF2B5EF4-FFF2-40B4-BE49-F238E27FC236}">
                <a16:creationId xmlns:a16="http://schemas.microsoft.com/office/drawing/2014/main" id="{B761E3F4-D4E1-40CF-B3CB-B5B52D57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510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81B"/>
                </a:solidFill>
              </a:defRPr>
            </a:pPr>
            <a:r>
              <a:rPr sz="1575" b="0">
                <a:solidFill>
                  <a:srgbClr val="17181B"/>
                </a:solidFill>
              </a:rPr>
              <a:t>Cadastro e autenticação de usuários</a:t>
            </a:r>
          </a:p>
        </p:txBody>
      </p:sp>
      <p:sp>
        <p:nvSpPr>
          <p:cNvPr id="7" name="shape-gsupbn">
            <a:extLst xmlns:a="http://schemas.openxmlformats.org/drawingml/2006/main">
              <a:ext uri="{FF2B5EF4-FFF2-40B4-BE49-F238E27FC236}">
                <a16:creationId xmlns:a16="http://schemas.microsoft.com/office/drawing/2014/main" id="{AFC1BA45-190D-4CCE-B5F8-6CF0F8B3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ohh4sh">
            <a:extLst xmlns:a="http://schemas.openxmlformats.org/drawingml/2006/main">
              <a:ext uri="{FF2B5EF4-FFF2-40B4-BE49-F238E27FC236}">
                <a16:creationId xmlns:a16="http://schemas.microsoft.com/office/drawing/2014/main" id="{9D3336D5-7E81-4DB4-9744-A03E7EDA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510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81B"/>
                </a:solidFill>
              </a:defRPr>
            </a:pPr>
            <a:r>
              <a:rPr sz="1575" b="0">
                <a:solidFill>
                  <a:srgbClr val="17181B"/>
                </a:solidFill>
              </a:rPr>
              <a:t>CRUD completo de produtos</a:t>
            </a:r>
          </a:p>
        </p:txBody>
      </p:sp>
      <p:sp>
        <p:nvSpPr>
          <p:cNvPr id="9" name="shape-evod5h">
            <a:extLst xmlns:a="http://schemas.openxmlformats.org/drawingml/2006/main">
              <a:ext uri="{FF2B5EF4-FFF2-40B4-BE49-F238E27FC236}">
                <a16:creationId xmlns:a16="http://schemas.microsoft.com/office/drawing/2014/main" id="{3AB32EE6-3522-469C-8493-714C1BF4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43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23z57o">
            <a:extLst xmlns:a="http://schemas.openxmlformats.org/drawingml/2006/main">
              <a:ext uri="{FF2B5EF4-FFF2-40B4-BE49-F238E27FC236}">
                <a16:creationId xmlns:a16="http://schemas.microsoft.com/office/drawing/2014/main" id="{A9D8FA96-23A0-4DF6-9898-F15D6A5F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10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81B"/>
                </a:solidFill>
              </a:defRPr>
            </a:pPr>
            <a:r>
              <a:rPr sz="1575" b="0">
                <a:solidFill>
                  <a:srgbClr val="17181B"/>
                </a:solidFill>
              </a:rPr>
              <a:t>Dados persistentes entre reinicializações</a:t>
            </a:r>
          </a:p>
        </p:txBody>
      </p:sp>
      <p:sp>
        <p:nvSpPr>
          <p:cNvPr id="11" name="shape-0t9b1m">
            <a:extLst xmlns:a="http://schemas.openxmlformats.org/drawingml/2006/main">
              <a:ext uri="{FF2B5EF4-FFF2-40B4-BE49-F238E27FC236}">
                <a16:creationId xmlns:a16="http://schemas.microsoft.com/office/drawing/2014/main" id="{B9B65F0E-A6EB-493C-AA83-22273F09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57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qffsa6">
            <a:extLst xmlns:a="http://schemas.openxmlformats.org/drawingml/2006/main">
              <a:ext uri="{FF2B5EF4-FFF2-40B4-BE49-F238E27FC236}">
                <a16:creationId xmlns:a16="http://schemas.microsoft.com/office/drawing/2014/main" id="{C7DEA38D-771C-49D0-9E84-00D2FB44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10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81B"/>
                </a:solidFill>
              </a:defRPr>
            </a:pPr>
            <a:r>
              <a:rPr sz="1575" b="0">
                <a:solidFill>
                  <a:srgbClr val="17181B"/>
                </a:solidFill>
              </a:rPr>
              <a:t>API testável e documentada</a:t>
            </a:r>
          </a:p>
        </p:txBody>
      </p:sp>
      <p:sp>
        <p:nvSpPr>
          <p:cNvPr id="13" name="shape-6a4f1l">
            <a:extLst xmlns:a="http://schemas.openxmlformats.org/drawingml/2006/main">
              <a:ext uri="{FF2B5EF4-FFF2-40B4-BE49-F238E27FC236}">
                <a16:creationId xmlns:a16="http://schemas.microsoft.com/office/drawing/2014/main" id="{F9D14D07-95F4-4BE9-8138-74BA4B43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4667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w4p8o8">
            <a:extLst xmlns:a="http://schemas.openxmlformats.org/drawingml/2006/main">
              <a:ext uri="{FF2B5EF4-FFF2-40B4-BE49-F238E27FC236}">
                <a16:creationId xmlns:a16="http://schemas.microsoft.com/office/drawing/2014/main" id="{FD538C59-5615-4679-934F-185D021C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PRINCÍPIO DO PROJETO</a:t>
            </a:r>
          </a:p>
        </p:txBody>
      </p:sp>
      <p:sp>
        <p:nvSpPr>
          <p:cNvPr id="15" name="text-62fko0">
            <a:extLst xmlns:a="http://schemas.openxmlformats.org/drawingml/2006/main">
              <a:ext uri="{FF2B5EF4-FFF2-40B4-BE49-F238E27FC236}">
                <a16:creationId xmlns:a16="http://schemas.microsoft.com/office/drawing/2014/main" id="{789A3995-DDC6-4BDB-AD2A-D65665A4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81B"/>
                </a:solidFill>
              </a:defRPr>
            </a:pPr>
            <a:r>
              <a:rPr sz="2700" b="1">
                <a:solidFill>
                  <a:srgbClr val="17181B"/>
                </a:solidFill>
              </a:rPr>
              <a:t>A interface não acessa o banco.</a:t>
            </a:r>
          </a:p>
        </p:txBody>
      </p:sp>
      <p:sp>
        <p:nvSpPr>
          <p:cNvPr id="16" name="shape-gvakn4">
            <a:extLst xmlns:a="http://schemas.openxmlformats.org/drawingml/2006/main">
              <a:ext uri="{FF2B5EF4-FFF2-40B4-BE49-F238E27FC236}">
                <a16:creationId xmlns:a16="http://schemas.microsoft.com/office/drawing/2014/main" id="{F0C06DC9-D0EE-40D1-8DCB-2F61BDF5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671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kp6x8b">
            <a:extLst xmlns:a="http://schemas.openxmlformats.org/drawingml/2006/main">
              <a:ext uri="{FF2B5EF4-FFF2-40B4-BE49-F238E27FC236}">
                <a16:creationId xmlns:a16="http://schemas.microsoft.com/office/drawing/2014/main" id="{6FFAD392-C037-47F2-A1D4-63CE2034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9100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5F66"/>
                </a:solidFill>
              </a:defRPr>
            </a:pPr>
            <a:r>
              <a:rPr sz="1575" b="0">
                <a:solidFill>
                  <a:srgbClr val="5B5F66"/>
                </a:solidFill>
              </a:rPr>
              <a:t>Toda operação passa pela API, pela segurança e pelas camadas do backend.</a:t>
            </a:r>
          </a:p>
        </p:txBody>
      </p:sp>
    </p:spTree>
    <p:extLst>
      <p:ext uri="{BB962C8B-B14F-4D97-AF65-F5344CB8AC3E}">
        <p14:creationId xmlns:p14="http://schemas.microsoft.com/office/powerpoint/2010/main" val="15452564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F46310-2086-4DA3-9199-272C499E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81B"/>
                </a:solidFill>
              </a:defRPr>
            </a:pPr>
            <a:r>
              <a:rPr sz="3000" b="1">
                <a:solidFill>
                  <a:srgbClr val="17181B"/>
                </a:solidFill>
              </a:rPr>
              <a:t>Arquitetura ponta a ponta</a:t>
            </a:r>
          </a:p>
        </p:txBody>
      </p:sp>
      <p:sp>
        <p:nvSpPr>
          <p:cNvPr id="2" name="text-xa2rj8">
            <a:extLst xmlns:a="http://schemas.openxmlformats.org/drawingml/2006/main">
              <a:ext uri="{FF2B5EF4-FFF2-40B4-BE49-F238E27FC236}">
                <a16:creationId xmlns:a16="http://schemas.microsoft.com/office/drawing/2014/main" id="{E530502A-6A90-4260-A5C9-4D7F63A0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Uma única operação atravessa seis responsabilidades bem definidas.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976B6B2-1243-4F62-815C-7C25C3CB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5F66"/>
                </a:solidFill>
              </a:defRPr>
            </a:pPr>
            <a:r>
              <a:rPr sz="1125" b="0">
                <a:solidFill>
                  <a:srgbClr val="5B5F66"/>
                </a:solidFill>
              </a:rPr>
              <a:t>03</a:t>
            </a:r>
          </a:p>
        </p:txBody>
      </p:sp>
      <p:sp>
        <p:nvSpPr>
          <p:cNvPr id="4" name="shape-6kv8m6">
            <a:extLst xmlns:a="http://schemas.openxmlformats.org/drawingml/2006/main">
              <a:ext uri="{FF2B5EF4-FFF2-40B4-BE49-F238E27FC236}">
                <a16:creationId xmlns:a16="http://schemas.microsoft.com/office/drawing/2014/main" id="{5FAD215F-9505-4234-983D-6CF952C1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-cvd213">
            <a:extLst xmlns:a="http://schemas.openxmlformats.org/drawingml/2006/main">
              <a:ext uri="{FF2B5EF4-FFF2-40B4-BE49-F238E27FC236}">
                <a16:creationId xmlns:a16="http://schemas.microsoft.com/office/drawing/2014/main" id="{DB077FD4-1DFC-43C7-9CDA-5DE8EFC6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1619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6" name="shape-0wr4rm">
            <a:extLst xmlns:a="http://schemas.openxmlformats.org/drawingml/2006/main">
              <a:ext uri="{FF2B5EF4-FFF2-40B4-BE49-F238E27FC236}">
                <a16:creationId xmlns:a16="http://schemas.microsoft.com/office/drawing/2014/main" id="{177916D5-90FF-4C8A-91F2-01070F21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v9kks6">
            <a:extLst xmlns:a="http://schemas.openxmlformats.org/drawingml/2006/main">
              <a:ext uri="{FF2B5EF4-FFF2-40B4-BE49-F238E27FC236}">
                <a16:creationId xmlns:a16="http://schemas.microsoft.com/office/drawing/2014/main" id="{9084237C-CD66-4F8D-9DA3-DB502CFA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81B"/>
                </a:solidFill>
              </a:defRPr>
            </a:pPr>
            <a:r>
              <a:rPr sz="1725" b="1">
                <a:solidFill>
                  <a:srgbClr val="17181B"/>
                </a:solidFill>
              </a:rPr>
              <a:t>Swing</a:t>
            </a:r>
          </a:p>
        </p:txBody>
      </p:sp>
      <p:sp>
        <p:nvSpPr>
          <p:cNvPr id="8" name="text-r6ah0j">
            <a:extLst xmlns:a="http://schemas.openxmlformats.org/drawingml/2006/main">
              <a:ext uri="{FF2B5EF4-FFF2-40B4-BE49-F238E27FC236}">
                <a16:creationId xmlns:a16="http://schemas.microsoft.com/office/drawing/2014/main" id="{2B9D57B7-62C1-4F64-9C70-4C0CB58A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12192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LoginScreen</a:t>
            </a:r>
          </a:p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ProdutoScreen</a:t>
            </a:r>
          </a:p>
        </p:txBody>
      </p:sp>
      <p:sp>
        <p:nvSpPr>
          <p:cNvPr id="9" name="shape-bglbrb">
            <a:extLst xmlns:a="http://schemas.openxmlformats.org/drawingml/2006/main">
              <a:ext uri="{FF2B5EF4-FFF2-40B4-BE49-F238E27FC236}">
                <a16:creationId xmlns:a16="http://schemas.microsoft.com/office/drawing/2014/main" id="{27676CE4-1609-4D2B-A844-32ACA5EE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05150"/>
            <a:ext cx="3238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-jems8c">
            <a:extLst xmlns:a="http://schemas.openxmlformats.org/drawingml/2006/main">
              <a:ext uri="{FF2B5EF4-FFF2-40B4-BE49-F238E27FC236}">
                <a16:creationId xmlns:a16="http://schemas.microsoft.com/office/drawing/2014/main" id="{20D4097E-948F-48DF-AEE4-F32E0244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362200"/>
            <a:ext cx="1619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F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11" name="shape-ug8a6z">
            <a:extLst xmlns:a="http://schemas.openxmlformats.org/drawingml/2006/main">
              <a:ext uri="{FF2B5EF4-FFF2-40B4-BE49-F238E27FC236}">
                <a16:creationId xmlns:a16="http://schemas.microsoft.com/office/drawing/2014/main" id="{47DCDBF7-EDAC-4091-9959-979E2163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3622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th1bg6">
            <a:extLst xmlns:a="http://schemas.openxmlformats.org/drawingml/2006/main">
              <a:ext uri="{FF2B5EF4-FFF2-40B4-BE49-F238E27FC236}">
                <a16:creationId xmlns:a16="http://schemas.microsoft.com/office/drawing/2014/main" id="{F9A7CC86-C5F6-409E-8EED-F7C0202B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5336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81B"/>
                </a:solidFill>
              </a:defRPr>
            </a:pPr>
            <a:r>
              <a:rPr sz="1725" b="1">
                <a:solidFill>
                  <a:srgbClr val="17181B"/>
                </a:solidFill>
              </a:rPr>
              <a:t>Cliente</a:t>
            </a:r>
          </a:p>
        </p:txBody>
      </p:sp>
      <p:sp>
        <p:nvSpPr>
          <p:cNvPr id="13" name="text-b2fngj">
            <a:extLst xmlns:a="http://schemas.openxmlformats.org/drawingml/2006/main">
              <a:ext uri="{FF2B5EF4-FFF2-40B4-BE49-F238E27FC236}">
                <a16:creationId xmlns:a16="http://schemas.microsoft.com/office/drawing/2014/main" id="{DB0BA52B-D142-4789-80CB-F20AC333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895600"/>
            <a:ext cx="12192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HttpClient</a:t>
            </a:r>
          </a:p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cliente da API</a:t>
            </a:r>
          </a:p>
        </p:txBody>
      </p:sp>
      <p:sp>
        <p:nvSpPr>
          <p:cNvPr id="14" name="shape-fxkt79">
            <a:extLst xmlns:a="http://schemas.openxmlformats.org/drawingml/2006/main">
              <a:ext uri="{FF2B5EF4-FFF2-40B4-BE49-F238E27FC236}">
                <a16:creationId xmlns:a16="http://schemas.microsoft.com/office/drawing/2014/main" id="{B53A1FBA-A7DC-4953-A62D-7E6ACA50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105150"/>
            <a:ext cx="3238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hape-coig6d">
            <a:extLst xmlns:a="http://schemas.openxmlformats.org/drawingml/2006/main">
              <a:ext uri="{FF2B5EF4-FFF2-40B4-BE49-F238E27FC236}">
                <a16:creationId xmlns:a16="http://schemas.microsoft.com/office/drawing/2014/main" id="{846C8748-5CB8-45AC-AA5A-2E4CEFC9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62200"/>
            <a:ext cx="1619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F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16" name="shape-kjo7y1">
            <a:extLst xmlns:a="http://schemas.openxmlformats.org/drawingml/2006/main">
              <a:ext uri="{FF2B5EF4-FFF2-40B4-BE49-F238E27FC236}">
                <a16:creationId xmlns:a16="http://schemas.microsoft.com/office/drawing/2014/main" id="{7E0A3351-39DD-481E-95E4-81B4ABD6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622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5wgpc9">
            <a:extLst xmlns:a="http://schemas.openxmlformats.org/drawingml/2006/main">
              <a:ext uri="{FF2B5EF4-FFF2-40B4-BE49-F238E27FC236}">
                <a16:creationId xmlns:a16="http://schemas.microsoft.com/office/drawing/2014/main" id="{1F243F35-671A-400D-8D6C-21700C5D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336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81B"/>
                </a:solidFill>
              </a:defRPr>
            </a:pPr>
            <a:r>
              <a:rPr sz="1725" b="1">
                <a:solidFill>
                  <a:srgbClr val="17181B"/>
                </a:solidFill>
              </a:rPr>
              <a:t>Segurança</a:t>
            </a:r>
          </a:p>
        </p:txBody>
      </p:sp>
      <p:sp>
        <p:nvSpPr>
          <p:cNvPr id="18" name="text-r02wm4">
            <a:extLst xmlns:a="http://schemas.openxmlformats.org/drawingml/2006/main">
              <a:ext uri="{FF2B5EF4-FFF2-40B4-BE49-F238E27FC236}">
                <a16:creationId xmlns:a16="http://schemas.microsoft.com/office/drawing/2014/main" id="{7922653E-F052-4E84-B47A-47D7C77D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95600"/>
            <a:ext cx="12192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Filtro JWT</a:t>
            </a:r>
          </a:p>
        </p:txBody>
      </p:sp>
      <p:sp>
        <p:nvSpPr>
          <p:cNvPr id="19" name="shape-35dm4l">
            <a:extLst xmlns:a="http://schemas.openxmlformats.org/drawingml/2006/main">
              <a:ext uri="{FF2B5EF4-FFF2-40B4-BE49-F238E27FC236}">
                <a16:creationId xmlns:a16="http://schemas.microsoft.com/office/drawing/2014/main" id="{EB3268F4-F249-4F1D-8C1A-CFA2F823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05150"/>
            <a:ext cx="3238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hape-2vt7an">
            <a:extLst xmlns:a="http://schemas.openxmlformats.org/drawingml/2006/main">
              <a:ext uri="{FF2B5EF4-FFF2-40B4-BE49-F238E27FC236}">
                <a16:creationId xmlns:a16="http://schemas.microsoft.com/office/drawing/2014/main" id="{AC0B92E8-ED78-4AE6-AC7C-2B614836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362200"/>
            <a:ext cx="1619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F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21" name="shape-tu63if">
            <a:extLst xmlns:a="http://schemas.openxmlformats.org/drawingml/2006/main">
              <a:ext uri="{FF2B5EF4-FFF2-40B4-BE49-F238E27FC236}">
                <a16:creationId xmlns:a16="http://schemas.microsoft.com/office/drawing/2014/main" id="{E4D3D770-0AE2-48F1-A619-A68066A0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3622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vnuwl8">
            <a:extLst xmlns:a="http://schemas.openxmlformats.org/drawingml/2006/main">
              <a:ext uri="{FF2B5EF4-FFF2-40B4-BE49-F238E27FC236}">
                <a16:creationId xmlns:a16="http://schemas.microsoft.com/office/drawing/2014/main" id="{9CE13FB4-3197-4D06-A490-FFD4F3FF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5336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81B"/>
                </a:solidFill>
              </a:defRPr>
            </a:pPr>
            <a:r>
              <a:rPr sz="1725" b="1">
                <a:solidFill>
                  <a:srgbClr val="17181B"/>
                </a:solidFill>
              </a:rPr>
              <a:t>Controllers</a:t>
            </a:r>
          </a:p>
        </p:txBody>
      </p:sp>
      <p:sp>
        <p:nvSpPr>
          <p:cNvPr id="23" name="text-gskbre">
            <a:extLst xmlns:a="http://schemas.openxmlformats.org/drawingml/2006/main">
              <a:ext uri="{FF2B5EF4-FFF2-40B4-BE49-F238E27FC236}">
                <a16:creationId xmlns:a16="http://schemas.microsoft.com/office/drawing/2014/main" id="{24F33916-6076-4B31-8EB3-F0734D76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895600"/>
            <a:ext cx="12192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Auth / Produtos</a:t>
            </a:r>
          </a:p>
        </p:txBody>
      </p:sp>
      <p:sp>
        <p:nvSpPr>
          <p:cNvPr id="24" name="shape-yunk8n">
            <a:extLst xmlns:a="http://schemas.openxmlformats.org/drawingml/2006/main">
              <a:ext uri="{FF2B5EF4-FFF2-40B4-BE49-F238E27FC236}">
                <a16:creationId xmlns:a16="http://schemas.microsoft.com/office/drawing/2014/main" id="{48D51BA8-BD09-49D1-B5AA-A556EB07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05150"/>
            <a:ext cx="3238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hape-n3k7qu">
            <a:extLst xmlns:a="http://schemas.openxmlformats.org/drawingml/2006/main">
              <a:ext uri="{FF2B5EF4-FFF2-40B4-BE49-F238E27FC236}">
                <a16:creationId xmlns:a16="http://schemas.microsoft.com/office/drawing/2014/main" id="{752BA41B-DADD-46CB-A9C0-86AA7C74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62200"/>
            <a:ext cx="1619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F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26" name="shape-eb9ufk">
            <a:extLst xmlns:a="http://schemas.openxmlformats.org/drawingml/2006/main">
              <a:ext uri="{FF2B5EF4-FFF2-40B4-BE49-F238E27FC236}">
                <a16:creationId xmlns:a16="http://schemas.microsoft.com/office/drawing/2014/main" id="{ABDAF0B8-4E71-45C3-B29E-580A17E7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622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xkbwac">
            <a:extLst xmlns:a="http://schemas.openxmlformats.org/drawingml/2006/main">
              <a:ext uri="{FF2B5EF4-FFF2-40B4-BE49-F238E27FC236}">
                <a16:creationId xmlns:a16="http://schemas.microsoft.com/office/drawing/2014/main" id="{0C2E7D7C-247D-4233-87DD-051516F5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336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81B"/>
                </a:solidFill>
              </a:defRPr>
            </a:pPr>
            <a:r>
              <a:rPr sz="1725" b="1">
                <a:solidFill>
                  <a:srgbClr val="17181B"/>
                </a:solidFill>
              </a:rPr>
              <a:t>Service</a:t>
            </a:r>
          </a:p>
        </p:txBody>
      </p:sp>
      <p:sp>
        <p:nvSpPr>
          <p:cNvPr id="28" name="text-0cz19r">
            <a:extLst xmlns:a="http://schemas.openxmlformats.org/drawingml/2006/main">
              <a:ext uri="{FF2B5EF4-FFF2-40B4-BE49-F238E27FC236}">
                <a16:creationId xmlns:a16="http://schemas.microsoft.com/office/drawing/2014/main" id="{27E8E778-F7B6-4031-AF14-E118CC5F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95600"/>
            <a:ext cx="12192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Regras + JPA</a:t>
            </a:r>
          </a:p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repositórios</a:t>
            </a:r>
          </a:p>
        </p:txBody>
      </p:sp>
      <p:sp>
        <p:nvSpPr>
          <p:cNvPr id="29" name="shape-hydqjs">
            <a:extLst xmlns:a="http://schemas.openxmlformats.org/drawingml/2006/main">
              <a:ext uri="{FF2B5EF4-FFF2-40B4-BE49-F238E27FC236}">
                <a16:creationId xmlns:a16="http://schemas.microsoft.com/office/drawing/2014/main" id="{59216FEB-3A31-4B32-B8E3-D601DC85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05150"/>
            <a:ext cx="3238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hape-dccirk">
            <a:extLst xmlns:a="http://schemas.openxmlformats.org/drawingml/2006/main">
              <a:ext uri="{FF2B5EF4-FFF2-40B4-BE49-F238E27FC236}">
                <a16:creationId xmlns:a16="http://schemas.microsoft.com/office/drawing/2014/main" id="{342427BF-A715-4FDE-BF8A-EF371EF9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362200"/>
            <a:ext cx="1619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F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31" name="shape-amjm25">
            <a:extLst xmlns:a="http://schemas.openxmlformats.org/drawingml/2006/main">
              <a:ext uri="{FF2B5EF4-FFF2-40B4-BE49-F238E27FC236}">
                <a16:creationId xmlns:a16="http://schemas.microsoft.com/office/drawing/2014/main" id="{4531CE47-5777-4A9A-BB4E-47C2DEB6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3622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0w5ltf">
            <a:extLst xmlns:a="http://schemas.openxmlformats.org/drawingml/2006/main">
              <a:ext uri="{FF2B5EF4-FFF2-40B4-BE49-F238E27FC236}">
                <a16:creationId xmlns:a16="http://schemas.microsoft.com/office/drawing/2014/main" id="{04C1D02A-92EF-4F04-8277-B5AE3F08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25336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81B"/>
                </a:solidFill>
              </a:defRPr>
            </a:pPr>
            <a:r>
              <a:rPr sz="1725" b="1">
                <a:solidFill>
                  <a:srgbClr val="17181B"/>
                </a:solidFill>
              </a:rPr>
              <a:t>H2</a:t>
            </a:r>
          </a:p>
        </p:txBody>
      </p:sp>
      <p:sp>
        <p:nvSpPr>
          <p:cNvPr id="33" name="text-vyf6xv">
            <a:extLst xmlns:a="http://schemas.openxmlformats.org/drawingml/2006/main">
              <a:ext uri="{FF2B5EF4-FFF2-40B4-BE49-F238E27FC236}">
                <a16:creationId xmlns:a16="http://schemas.microsoft.com/office/drawing/2014/main" id="{ED75D303-4186-4049-A6F5-A130E517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2895600"/>
            <a:ext cx="12192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Usuários e</a:t>
            </a:r>
          </a:p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produtos</a:t>
            </a:r>
          </a:p>
        </p:txBody>
      </p:sp>
      <p:sp>
        <p:nvSpPr>
          <p:cNvPr id="34" name="text-av37ea">
            <a:extLst xmlns:a="http://schemas.openxmlformats.org/drawingml/2006/main">
              <a:ext uri="{FF2B5EF4-FFF2-40B4-BE49-F238E27FC236}">
                <a16:creationId xmlns:a16="http://schemas.microsoft.com/office/drawing/2014/main" id="{FAB1F9E1-92DC-4F2B-8A98-0792BDA9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291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HTTP + JSON + Authorization: Bearer &lt;JWT&gt;</a:t>
            </a:r>
          </a:p>
        </p:txBody>
      </p:sp>
      <p:sp>
        <p:nvSpPr>
          <p:cNvPr id="35" name="text-62qoue">
            <a:extLst xmlns:a="http://schemas.openxmlformats.org/drawingml/2006/main">
              <a:ext uri="{FF2B5EF4-FFF2-40B4-BE49-F238E27FC236}">
                <a16:creationId xmlns:a16="http://schemas.microsoft.com/office/drawing/2014/main" id="{114C88B4-9539-4EF1-A391-E04B2C8A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197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O fluxo inverso devolve status HTTP e JSON até a tela.</a:t>
            </a:r>
          </a:p>
        </p:txBody>
      </p:sp>
    </p:spTree>
    <p:extLst>
      <p:ext uri="{BB962C8B-B14F-4D97-AF65-F5344CB8AC3E}">
        <p14:creationId xmlns:p14="http://schemas.microsoft.com/office/powerpoint/2010/main" val="3024460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202A5E-C229-4A50-A392-C3A752FB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81B"/>
                </a:solidFill>
              </a:defRPr>
            </a:pPr>
            <a:r>
              <a:rPr sz="3000" b="1">
                <a:solidFill>
                  <a:srgbClr val="17181B"/>
                </a:solidFill>
              </a:rPr>
              <a:t>Pacotes e responsabilidades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2A7165A-B04F-4A4A-B6DB-F9CBB1A1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5F66"/>
                </a:solidFill>
              </a:defRPr>
            </a:pPr>
            <a:r>
              <a:rPr sz="1125" b="0">
                <a:solidFill>
                  <a:srgbClr val="5B5F66"/>
                </a:solidFill>
              </a:rPr>
              <a:t>04</a:t>
            </a:r>
          </a:p>
        </p:txBody>
      </p:sp>
      <p:sp>
        <p:nvSpPr>
          <p:cNvPr id="3" name="shape-4yabao">
            <a:extLst xmlns:a="http://schemas.openxmlformats.org/drawingml/2006/main">
              <a:ext uri="{FF2B5EF4-FFF2-40B4-BE49-F238E27FC236}">
                <a16:creationId xmlns:a16="http://schemas.microsoft.com/office/drawing/2014/main" id="{CBB559C8-2902-4D51-A7A2-B0282B9C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8n7yst">
            <a:extLst xmlns:a="http://schemas.openxmlformats.org/drawingml/2006/main">
              <a:ext uri="{FF2B5EF4-FFF2-40B4-BE49-F238E27FC236}">
                <a16:creationId xmlns:a16="http://schemas.microsoft.com/office/drawing/2014/main" id="{46150B17-B088-401E-AB0F-FA900461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09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ui</a:t>
            </a:r>
          </a:p>
        </p:txBody>
      </p:sp>
      <p:sp>
        <p:nvSpPr>
          <p:cNvPr id="5" name="text-0wnud1">
            <a:extLst xmlns:a="http://schemas.openxmlformats.org/drawingml/2006/main">
              <a:ext uri="{FF2B5EF4-FFF2-40B4-BE49-F238E27FC236}">
                <a16:creationId xmlns:a16="http://schemas.microsoft.com/office/drawing/2014/main" id="{2C990D38-2382-4606-90B0-4CD8AE42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809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Janelas Swing e eventos</a:t>
            </a:r>
          </a:p>
        </p:txBody>
      </p:sp>
      <p:sp>
        <p:nvSpPr>
          <p:cNvPr id="6" name="shape-grmn01">
            <a:extLst xmlns:a="http://schemas.openxmlformats.org/drawingml/2006/main">
              <a:ext uri="{FF2B5EF4-FFF2-40B4-BE49-F238E27FC236}">
                <a16:creationId xmlns:a16="http://schemas.microsoft.com/office/drawing/2014/main" id="{C8E8A1E8-E839-42A5-9F87-6C0E9591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669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q4tjdp">
            <a:extLst xmlns:a="http://schemas.openxmlformats.org/drawingml/2006/main">
              <a:ext uri="{FF2B5EF4-FFF2-40B4-BE49-F238E27FC236}">
                <a16:creationId xmlns:a16="http://schemas.microsoft.com/office/drawing/2014/main" id="{3FE889BB-962F-4F06-AB67-0F6AB1FD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47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client</a:t>
            </a:r>
          </a:p>
        </p:txBody>
      </p:sp>
      <p:sp>
        <p:nvSpPr>
          <p:cNvPr id="8" name="text-ljr6et">
            <a:extLst xmlns:a="http://schemas.openxmlformats.org/drawingml/2006/main">
              <a:ext uri="{FF2B5EF4-FFF2-40B4-BE49-F238E27FC236}">
                <a16:creationId xmlns:a16="http://schemas.microsoft.com/office/drawing/2014/main" id="{76DEF926-38EF-4C6F-B8D2-AC113A04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479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HTTP, JSON e token</a:t>
            </a:r>
          </a:p>
        </p:txBody>
      </p:sp>
      <p:sp>
        <p:nvSpPr>
          <p:cNvPr id="9" name="shape-ac2exy">
            <a:extLst xmlns:a="http://schemas.openxmlformats.org/drawingml/2006/main">
              <a:ext uri="{FF2B5EF4-FFF2-40B4-BE49-F238E27FC236}">
                <a16:creationId xmlns:a16="http://schemas.microsoft.com/office/drawing/2014/main" id="{EEF190FE-12CA-452E-985A-F4493D5C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051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s6kc1c">
            <a:extLst xmlns:a="http://schemas.openxmlformats.org/drawingml/2006/main">
              <a:ext uri="{FF2B5EF4-FFF2-40B4-BE49-F238E27FC236}">
                <a16:creationId xmlns:a16="http://schemas.microsoft.com/office/drawing/2014/main" id="{BDD79278-7A87-4FA6-8399-A7CF87E5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controller</a:t>
            </a:r>
          </a:p>
        </p:txBody>
      </p:sp>
      <p:sp>
        <p:nvSpPr>
          <p:cNvPr id="11" name="text-o4h6pl">
            <a:extLst xmlns:a="http://schemas.openxmlformats.org/drawingml/2006/main">
              <a:ext uri="{FF2B5EF4-FFF2-40B4-BE49-F238E27FC236}">
                <a16:creationId xmlns:a16="http://schemas.microsoft.com/office/drawing/2014/main" id="{B83E73AA-6B23-4B1D-AD2D-D8D12D54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4861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Contrato REST</a:t>
            </a:r>
          </a:p>
        </p:txBody>
      </p:sp>
      <p:sp>
        <p:nvSpPr>
          <p:cNvPr id="12" name="shape-e4xs4v">
            <a:extLst xmlns:a="http://schemas.openxmlformats.org/drawingml/2006/main">
              <a:ext uri="{FF2B5EF4-FFF2-40B4-BE49-F238E27FC236}">
                <a16:creationId xmlns:a16="http://schemas.microsoft.com/office/drawing/2014/main" id="{8018E6A2-C85A-4D20-ADCB-1349A54E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433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4j8m75">
            <a:extLst xmlns:a="http://schemas.openxmlformats.org/drawingml/2006/main">
              <a:ext uri="{FF2B5EF4-FFF2-40B4-BE49-F238E27FC236}">
                <a16:creationId xmlns:a16="http://schemas.microsoft.com/office/drawing/2014/main" id="{A3806DFF-151B-4609-87B9-BE9C5BD8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243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service</a:t>
            </a:r>
          </a:p>
        </p:txBody>
      </p:sp>
      <p:sp>
        <p:nvSpPr>
          <p:cNvPr id="14" name="text-ffdtga">
            <a:extLst xmlns:a="http://schemas.openxmlformats.org/drawingml/2006/main">
              <a:ext uri="{FF2B5EF4-FFF2-40B4-BE49-F238E27FC236}">
                <a16:creationId xmlns:a16="http://schemas.microsoft.com/office/drawing/2014/main" id="{B12D52F2-6826-46A7-8BE7-AF18851F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24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Regras e transações</a:t>
            </a:r>
          </a:p>
        </p:txBody>
      </p:sp>
      <p:sp>
        <p:nvSpPr>
          <p:cNvPr id="15" name="shape-romxx4">
            <a:extLst xmlns:a="http://schemas.openxmlformats.org/drawingml/2006/main">
              <a:ext uri="{FF2B5EF4-FFF2-40B4-BE49-F238E27FC236}">
                <a16:creationId xmlns:a16="http://schemas.microsoft.com/office/drawing/2014/main" id="{0EAAC795-56AD-42E5-8236-0C1631FB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815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kbki78">
            <a:extLst xmlns:a="http://schemas.openxmlformats.org/drawingml/2006/main">
              <a:ext uri="{FF2B5EF4-FFF2-40B4-BE49-F238E27FC236}">
                <a16:creationId xmlns:a16="http://schemas.microsoft.com/office/drawing/2014/main" id="{C19EBB18-64F3-4D3A-A681-2B491183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625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repository</a:t>
            </a:r>
          </a:p>
        </p:txBody>
      </p:sp>
      <p:sp>
        <p:nvSpPr>
          <p:cNvPr id="17" name="text-gm91b2">
            <a:extLst xmlns:a="http://schemas.openxmlformats.org/drawingml/2006/main">
              <a:ext uri="{FF2B5EF4-FFF2-40B4-BE49-F238E27FC236}">
                <a16:creationId xmlns:a16="http://schemas.microsoft.com/office/drawing/2014/main" id="{24A2E815-1176-4272-8435-9909B391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62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Acesso ao banco</a:t>
            </a:r>
          </a:p>
        </p:txBody>
      </p:sp>
      <p:sp>
        <p:nvSpPr>
          <p:cNvPr id="18" name="shape-cwinch">
            <a:extLst xmlns:a="http://schemas.openxmlformats.org/drawingml/2006/main">
              <a:ext uri="{FF2B5EF4-FFF2-40B4-BE49-F238E27FC236}">
                <a16:creationId xmlns:a16="http://schemas.microsoft.com/office/drawing/2014/main" id="{B00E71F1-5832-41A1-A094-459ED609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197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ne9k2l">
            <a:extLst xmlns:a="http://schemas.openxmlformats.org/drawingml/2006/main">
              <a:ext uri="{FF2B5EF4-FFF2-40B4-BE49-F238E27FC236}">
                <a16:creationId xmlns:a16="http://schemas.microsoft.com/office/drawing/2014/main" id="{76C0FDA0-F82F-48B2-8185-4BAC2379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D"/>
                </a:solidFill>
              </a:defRPr>
            </a:pPr>
            <a:r>
              <a:rPr sz="1650" b="1">
                <a:solidFill>
                  <a:srgbClr val="0B0B0D"/>
                </a:solidFill>
              </a:rPr>
              <a:t>model / dto</a:t>
            </a:r>
          </a:p>
        </p:txBody>
      </p:sp>
      <p:sp>
        <p:nvSpPr>
          <p:cNvPr id="20" name="text-6kdja6">
            <a:extLst xmlns:a="http://schemas.openxmlformats.org/drawingml/2006/main">
              <a:ext uri="{FF2B5EF4-FFF2-40B4-BE49-F238E27FC236}">
                <a16:creationId xmlns:a16="http://schemas.microsoft.com/office/drawing/2014/main" id="{D9DA2C58-1C57-45C2-9022-4690BCB8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Entidades e transporte</a:t>
            </a:r>
          </a:p>
        </p:txBody>
      </p:sp>
      <p:sp>
        <p:nvSpPr>
          <p:cNvPr id="21" name="shape-ampour">
            <a:extLst xmlns:a="http://schemas.openxmlformats.org/drawingml/2006/main">
              <a:ext uri="{FF2B5EF4-FFF2-40B4-BE49-F238E27FC236}">
                <a16:creationId xmlns:a16="http://schemas.microsoft.com/office/drawing/2014/main" id="{2227A211-2D0E-4736-A1F9-8B6F95CF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187g3p">
            <a:extLst xmlns:a="http://schemas.openxmlformats.org/drawingml/2006/main">
              <a:ext uri="{FF2B5EF4-FFF2-40B4-BE49-F238E27FC236}">
                <a16:creationId xmlns:a16="http://schemas.microsoft.com/office/drawing/2014/main" id="{1E6D43BB-2244-4070-B532-F0186679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D"/>
                </a:solidFill>
              </a:defRPr>
            </a:pPr>
            <a:r>
              <a:rPr sz="1650" b="1">
                <a:solidFill>
                  <a:srgbClr val="0B0B0D"/>
                </a:solidFill>
              </a:rPr>
              <a:t>security</a:t>
            </a:r>
          </a:p>
        </p:txBody>
      </p:sp>
      <p:sp>
        <p:nvSpPr>
          <p:cNvPr id="23" name="text-2b5m0l">
            <a:extLst xmlns:a="http://schemas.openxmlformats.org/drawingml/2006/main">
              <a:ext uri="{FF2B5EF4-FFF2-40B4-BE49-F238E27FC236}">
                <a16:creationId xmlns:a16="http://schemas.microsoft.com/office/drawing/2014/main" id="{99635D96-D9DC-4B5A-A1F1-95DF539A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479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Autenticação e autorização</a:t>
            </a:r>
          </a:p>
        </p:txBody>
      </p:sp>
      <p:sp>
        <p:nvSpPr>
          <p:cNvPr id="24" name="shape-7p260t">
            <a:extLst xmlns:a="http://schemas.openxmlformats.org/drawingml/2006/main">
              <a:ext uri="{FF2B5EF4-FFF2-40B4-BE49-F238E27FC236}">
                <a16:creationId xmlns:a16="http://schemas.microsoft.com/office/drawing/2014/main" id="{9A45BA1D-4E62-4B41-95D8-0EA52C33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78k1oh">
            <a:extLst xmlns:a="http://schemas.openxmlformats.org/drawingml/2006/main">
              <a:ext uri="{FF2B5EF4-FFF2-40B4-BE49-F238E27FC236}">
                <a16:creationId xmlns:a16="http://schemas.microsoft.com/office/drawing/2014/main" id="{5BCDD56F-4C8D-4610-A91F-13EE9E4D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86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D"/>
                </a:solidFill>
              </a:defRPr>
            </a:pPr>
            <a:r>
              <a:rPr sz="1650" b="1">
                <a:solidFill>
                  <a:srgbClr val="0B0B0D"/>
                </a:solidFill>
              </a:rPr>
              <a:t>util</a:t>
            </a:r>
          </a:p>
        </p:txBody>
      </p:sp>
      <p:sp>
        <p:nvSpPr>
          <p:cNvPr id="26" name="text-0hbqxj">
            <a:extLst xmlns:a="http://schemas.openxmlformats.org/drawingml/2006/main">
              <a:ext uri="{FF2B5EF4-FFF2-40B4-BE49-F238E27FC236}">
                <a16:creationId xmlns:a16="http://schemas.microsoft.com/office/drawing/2014/main" id="{EDF7B291-47F9-4403-A30B-4A9E87D4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Geração e validação JWT</a:t>
            </a:r>
          </a:p>
        </p:txBody>
      </p:sp>
      <p:sp>
        <p:nvSpPr>
          <p:cNvPr id="27" name="shape-br2kaj">
            <a:extLst xmlns:a="http://schemas.openxmlformats.org/drawingml/2006/main">
              <a:ext uri="{FF2B5EF4-FFF2-40B4-BE49-F238E27FC236}">
                <a16:creationId xmlns:a16="http://schemas.microsoft.com/office/drawing/2014/main" id="{4D2D0891-A7A7-4830-B07A-0335CC9D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433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3lpbg4">
            <a:extLst xmlns:a="http://schemas.openxmlformats.org/drawingml/2006/main">
              <a:ext uri="{FF2B5EF4-FFF2-40B4-BE49-F238E27FC236}">
                <a16:creationId xmlns:a16="http://schemas.microsoft.com/office/drawing/2014/main" id="{CC1801B7-3E43-4754-BA71-9DE6F1B5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243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D"/>
                </a:solidFill>
              </a:defRPr>
            </a:pPr>
            <a:r>
              <a:rPr sz="1650" b="1">
                <a:solidFill>
                  <a:srgbClr val="0B0B0D"/>
                </a:solidFill>
              </a:rPr>
              <a:t>exception</a:t>
            </a:r>
          </a:p>
        </p:txBody>
      </p:sp>
      <p:sp>
        <p:nvSpPr>
          <p:cNvPr id="29" name="text-4uydf1">
            <a:extLst xmlns:a="http://schemas.openxmlformats.org/drawingml/2006/main">
              <a:ext uri="{FF2B5EF4-FFF2-40B4-BE49-F238E27FC236}">
                <a16:creationId xmlns:a16="http://schemas.microsoft.com/office/drawing/2014/main" id="{1E737DCB-6377-451E-A43E-062DD63A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24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Respostas de erro</a:t>
            </a:r>
          </a:p>
        </p:txBody>
      </p:sp>
      <p:sp>
        <p:nvSpPr>
          <p:cNvPr id="30" name="shape-zoy0sn">
            <a:extLst xmlns:a="http://schemas.openxmlformats.org/drawingml/2006/main">
              <a:ext uri="{FF2B5EF4-FFF2-40B4-BE49-F238E27FC236}">
                <a16:creationId xmlns:a16="http://schemas.microsoft.com/office/drawing/2014/main" id="{A3579254-F608-4753-A2AA-42300CA8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815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9av5ls">
            <a:extLst xmlns:a="http://schemas.openxmlformats.org/drawingml/2006/main">
              <a:ext uri="{FF2B5EF4-FFF2-40B4-BE49-F238E27FC236}">
                <a16:creationId xmlns:a16="http://schemas.microsoft.com/office/drawing/2014/main" id="{121C049A-6CE4-424B-ABC5-B7B99F7D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625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D"/>
                </a:solidFill>
              </a:defRPr>
            </a:pPr>
            <a:r>
              <a:rPr sz="1650" b="1">
                <a:solidFill>
                  <a:srgbClr val="0B0B0D"/>
                </a:solidFill>
              </a:rPr>
              <a:t>config</a:t>
            </a:r>
          </a:p>
        </p:txBody>
      </p:sp>
      <p:sp>
        <p:nvSpPr>
          <p:cNvPr id="32" name="text-hgcpmu">
            <a:extLst xmlns:a="http://schemas.openxmlformats.org/drawingml/2006/main">
              <a:ext uri="{FF2B5EF4-FFF2-40B4-BE49-F238E27FC236}">
                <a16:creationId xmlns:a16="http://schemas.microsoft.com/office/drawing/2014/main" id="{0FCE1BEA-A408-4C7F-85DA-6DD1383A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62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Swagger / OpenAPI</a:t>
            </a:r>
          </a:p>
        </p:txBody>
      </p:sp>
      <p:sp>
        <p:nvSpPr>
          <p:cNvPr id="33" name="shape-h6jcsc">
            <a:extLst xmlns:a="http://schemas.openxmlformats.org/drawingml/2006/main">
              <a:ext uri="{FF2B5EF4-FFF2-40B4-BE49-F238E27FC236}">
                <a16:creationId xmlns:a16="http://schemas.microsoft.com/office/drawing/2014/main" id="{4E13F80C-7077-42D3-A95D-DE7B1228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197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36292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4E63F6-2079-4925-8B19-F820C89A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81B"/>
                </a:solidFill>
              </a:defRPr>
            </a:pPr>
            <a:r>
              <a:rPr sz="3000" b="1">
                <a:solidFill>
                  <a:srgbClr val="17181B"/>
                </a:solidFill>
              </a:rPr>
              <a:t>Como o projeto inicializa</a:t>
            </a:r>
          </a:p>
        </p:txBody>
      </p:sp>
      <p:sp>
        <p:nvSpPr>
          <p:cNvPr id="2" name="text-u8dhbu">
            <a:extLst xmlns:a="http://schemas.openxmlformats.org/drawingml/2006/main">
              <a:ext uri="{FF2B5EF4-FFF2-40B4-BE49-F238E27FC236}">
                <a16:creationId xmlns:a16="http://schemas.microsoft.com/office/drawing/2014/main" id="{18DED1DC-99AD-4BB0-946E-BB7D5DF6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Um comando sobe backend, banco e interface.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1CA8951-1C84-43AA-839F-12482112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5F66"/>
                </a:solidFill>
              </a:defRPr>
            </a:pPr>
            <a:r>
              <a:rPr sz="1125" b="0">
                <a:solidFill>
                  <a:srgbClr val="5B5F66"/>
                </a:solidFill>
              </a:rPr>
              <a:t>05</a:t>
            </a:r>
          </a:p>
        </p:txBody>
      </p:sp>
      <p:sp>
        <p:nvSpPr>
          <p:cNvPr id="4" name="shape-tnwtjc">
            <a:extLst xmlns:a="http://schemas.openxmlformats.org/drawingml/2006/main">
              <a:ext uri="{FF2B5EF4-FFF2-40B4-BE49-F238E27FC236}">
                <a16:creationId xmlns:a16="http://schemas.microsoft.com/office/drawing/2014/main" id="{616AB87C-9B1D-4AEB-A2B1-3284763E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-vp1lvk">
            <a:extLst xmlns:a="http://schemas.openxmlformats.org/drawingml/2006/main">
              <a:ext uri="{FF2B5EF4-FFF2-40B4-BE49-F238E27FC236}">
                <a16:creationId xmlns:a16="http://schemas.microsoft.com/office/drawing/2014/main" id="{885D69FA-C471-4E96-B4DD-BF18CEEC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907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yxxjba">
            <a:extLst xmlns:a="http://schemas.openxmlformats.org/drawingml/2006/main">
              <a:ext uri="{FF2B5EF4-FFF2-40B4-BE49-F238E27FC236}">
                <a16:creationId xmlns:a16="http://schemas.microsoft.com/office/drawing/2014/main" id="{884A374E-9261-4B96-937F-FAF57D8E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573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mvn spring-boot:run</a:t>
            </a:r>
          </a:p>
        </p:txBody>
      </p:sp>
      <p:sp>
        <p:nvSpPr>
          <p:cNvPr id="7" name="text-j7hqvz">
            <a:extLst xmlns:a="http://schemas.openxmlformats.org/drawingml/2006/main">
              <a:ext uri="{FF2B5EF4-FFF2-40B4-BE49-F238E27FC236}">
                <a16:creationId xmlns:a16="http://schemas.microsoft.com/office/drawing/2014/main" id="{60923BAC-09E5-4E1F-A621-3CBA8190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8" name="text-2zjxw6">
            <a:extLst xmlns:a="http://schemas.openxmlformats.org/drawingml/2006/main">
              <a:ext uri="{FF2B5EF4-FFF2-40B4-BE49-F238E27FC236}">
                <a16:creationId xmlns:a16="http://schemas.microsoft.com/office/drawing/2014/main" id="{0CEB10A7-A143-49CF-BBB5-6C554C8A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71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81B"/>
                </a:solidFill>
              </a:defRPr>
            </a:pPr>
            <a:r>
              <a:rPr sz="1650" b="1">
                <a:solidFill>
                  <a:srgbClr val="17181B"/>
                </a:solidFill>
              </a:rPr>
              <a:t>Maven</a:t>
            </a:r>
          </a:p>
        </p:txBody>
      </p:sp>
      <p:sp>
        <p:nvSpPr>
          <p:cNvPr id="9" name="text-qojhh4">
            <a:extLst xmlns:a="http://schemas.openxmlformats.org/drawingml/2006/main">
              <a:ext uri="{FF2B5EF4-FFF2-40B4-BE49-F238E27FC236}">
                <a16:creationId xmlns:a16="http://schemas.microsoft.com/office/drawing/2014/main" id="{BC30779F-FFB6-40AD-9942-A76F668A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717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Compila e executa InventarioApplication</a:t>
            </a:r>
          </a:p>
        </p:txBody>
      </p:sp>
      <p:sp>
        <p:nvSpPr>
          <p:cNvPr id="10" name="shape-5z7ka3">
            <a:extLst xmlns:a="http://schemas.openxmlformats.org/drawingml/2006/main">
              <a:ext uri="{FF2B5EF4-FFF2-40B4-BE49-F238E27FC236}">
                <a16:creationId xmlns:a16="http://schemas.microsoft.com/office/drawing/2014/main" id="{86DD8B93-2B81-463F-94E1-8EB7CC0B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81325"/>
            <a:ext cx="19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30dqxd">
            <a:extLst xmlns:a="http://schemas.openxmlformats.org/drawingml/2006/main">
              <a:ext uri="{FF2B5EF4-FFF2-40B4-BE49-F238E27FC236}">
                <a16:creationId xmlns:a16="http://schemas.microsoft.com/office/drawing/2014/main" id="{E1EE1EFF-06D5-40EE-9A38-AA6169E8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12" name="text-kpj83p">
            <a:extLst xmlns:a="http://schemas.openxmlformats.org/drawingml/2006/main">
              <a:ext uri="{FF2B5EF4-FFF2-40B4-BE49-F238E27FC236}">
                <a16:creationId xmlns:a16="http://schemas.microsoft.com/office/drawing/2014/main" id="{7531A211-F946-4164-BB7E-3BF541AF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81B"/>
                </a:solidFill>
              </a:defRPr>
            </a:pPr>
            <a:r>
              <a:rPr sz="1650" b="1">
                <a:solidFill>
                  <a:srgbClr val="17181B"/>
                </a:solidFill>
              </a:rPr>
              <a:t>Spring</a:t>
            </a:r>
          </a:p>
        </p:txBody>
      </p:sp>
      <p:sp>
        <p:nvSpPr>
          <p:cNvPr id="13" name="text-2fiuur">
            <a:extLst xmlns:a="http://schemas.openxmlformats.org/drawingml/2006/main">
              <a:ext uri="{FF2B5EF4-FFF2-40B4-BE49-F238E27FC236}">
                <a16:creationId xmlns:a16="http://schemas.microsoft.com/office/drawing/2014/main" id="{F5E0ECB8-AA7E-43D9-BE84-15C5B4A4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623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Component scanning e injeção</a:t>
            </a:r>
          </a:p>
        </p:txBody>
      </p:sp>
      <p:sp>
        <p:nvSpPr>
          <p:cNvPr id="14" name="shape-qottip">
            <a:extLst xmlns:a="http://schemas.openxmlformats.org/drawingml/2006/main">
              <a:ext uri="{FF2B5EF4-FFF2-40B4-BE49-F238E27FC236}">
                <a16:creationId xmlns:a16="http://schemas.microsoft.com/office/drawing/2014/main" id="{CDC7C2CD-3EE5-43C8-80DA-6E6BF054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71875"/>
            <a:ext cx="19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d7jwx1">
            <a:extLst xmlns:a="http://schemas.openxmlformats.org/drawingml/2006/main">
              <a:ext uri="{FF2B5EF4-FFF2-40B4-BE49-F238E27FC236}">
                <a16:creationId xmlns:a16="http://schemas.microsoft.com/office/drawing/2014/main" id="{C31A526B-DCA1-4F6D-BBCA-5768B2B7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6" name="text-bgzr80">
            <a:extLst xmlns:a="http://schemas.openxmlformats.org/drawingml/2006/main">
              <a:ext uri="{FF2B5EF4-FFF2-40B4-BE49-F238E27FC236}">
                <a16:creationId xmlns:a16="http://schemas.microsoft.com/office/drawing/2014/main" id="{28FC02C3-4888-4720-A2D5-3A80D812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52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81B"/>
                </a:solidFill>
              </a:defRPr>
            </a:pPr>
            <a:r>
              <a:rPr sz="1650" b="1">
                <a:solidFill>
                  <a:srgbClr val="17181B"/>
                </a:solidFill>
              </a:rPr>
              <a:t>Tomcat</a:t>
            </a:r>
          </a:p>
        </p:txBody>
      </p:sp>
      <p:sp>
        <p:nvSpPr>
          <p:cNvPr id="17" name="text-hqdcew">
            <a:extLst xmlns:a="http://schemas.openxmlformats.org/drawingml/2006/main">
              <a:ext uri="{FF2B5EF4-FFF2-40B4-BE49-F238E27FC236}">
                <a16:creationId xmlns:a16="http://schemas.microsoft.com/office/drawing/2014/main" id="{CC708268-5856-49D8-A8CA-E987B6BB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528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Servidor na porta 8080</a:t>
            </a:r>
          </a:p>
        </p:txBody>
      </p:sp>
      <p:sp>
        <p:nvSpPr>
          <p:cNvPr id="18" name="shape-icf1vy">
            <a:extLst xmlns:a="http://schemas.openxmlformats.org/drawingml/2006/main">
              <a:ext uri="{FF2B5EF4-FFF2-40B4-BE49-F238E27FC236}">
                <a16:creationId xmlns:a16="http://schemas.microsoft.com/office/drawing/2014/main" id="{10C9938C-D9F1-4212-9AFD-BF5E3A49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19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ir7agg">
            <a:extLst xmlns:a="http://schemas.openxmlformats.org/drawingml/2006/main">
              <a:ext uri="{FF2B5EF4-FFF2-40B4-BE49-F238E27FC236}">
                <a16:creationId xmlns:a16="http://schemas.microsoft.com/office/drawing/2014/main" id="{0D3715A7-E859-4128-9624-CD52B58E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4</a:t>
            </a:r>
          </a:p>
        </p:txBody>
      </p:sp>
      <p:sp>
        <p:nvSpPr>
          <p:cNvPr id="20" name="text-ucv417">
            <a:extLst xmlns:a="http://schemas.openxmlformats.org/drawingml/2006/main">
              <a:ext uri="{FF2B5EF4-FFF2-40B4-BE49-F238E27FC236}">
                <a16:creationId xmlns:a16="http://schemas.microsoft.com/office/drawing/2014/main" id="{A7BDD07F-A55F-453B-9AD6-82CCB283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81B"/>
                </a:solidFill>
              </a:defRPr>
            </a:pPr>
            <a:r>
              <a:rPr sz="1650" b="1">
                <a:solidFill>
                  <a:srgbClr val="17181B"/>
                </a:solidFill>
              </a:rPr>
              <a:t>H2 + JPA</a:t>
            </a:r>
          </a:p>
        </p:txBody>
      </p:sp>
      <p:sp>
        <p:nvSpPr>
          <p:cNvPr id="21" name="text-dn329u">
            <a:extLst xmlns:a="http://schemas.openxmlformats.org/drawingml/2006/main">
              <a:ext uri="{FF2B5EF4-FFF2-40B4-BE49-F238E27FC236}">
                <a16:creationId xmlns:a16="http://schemas.microsoft.com/office/drawing/2014/main" id="{7E6FEBF9-1C96-498A-B02B-249E63A6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434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Conexão e atualização do esquema</a:t>
            </a:r>
          </a:p>
        </p:txBody>
      </p:sp>
      <p:sp>
        <p:nvSpPr>
          <p:cNvPr id="22" name="shape-euv77c">
            <a:extLst xmlns:a="http://schemas.openxmlformats.org/drawingml/2006/main">
              <a:ext uri="{FF2B5EF4-FFF2-40B4-BE49-F238E27FC236}">
                <a16:creationId xmlns:a16="http://schemas.microsoft.com/office/drawing/2014/main" id="{F1253045-735B-4A4A-8410-0784154F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52975"/>
            <a:ext cx="19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690pjo">
            <a:extLst xmlns:a="http://schemas.openxmlformats.org/drawingml/2006/main">
              <a:ext uri="{FF2B5EF4-FFF2-40B4-BE49-F238E27FC236}">
                <a16:creationId xmlns:a16="http://schemas.microsoft.com/office/drawing/2014/main" id="{5D33997F-387C-4061-B069-C1BFADC0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5</a:t>
            </a:r>
          </a:p>
        </p:txBody>
      </p:sp>
      <p:sp>
        <p:nvSpPr>
          <p:cNvPr id="24" name="text-37hpa5">
            <a:extLst xmlns:a="http://schemas.openxmlformats.org/drawingml/2006/main">
              <a:ext uri="{FF2B5EF4-FFF2-40B4-BE49-F238E27FC236}">
                <a16:creationId xmlns:a16="http://schemas.microsoft.com/office/drawing/2014/main" id="{AF2C90EF-557C-4E71-B7F4-78D2A12C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33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81B"/>
                </a:solidFill>
              </a:defRPr>
            </a:pPr>
            <a:r>
              <a:rPr sz="1650" b="1">
                <a:solidFill>
                  <a:srgbClr val="17181B"/>
                </a:solidFill>
              </a:rPr>
              <a:t>Security</a:t>
            </a:r>
          </a:p>
        </p:txBody>
      </p:sp>
      <p:sp>
        <p:nvSpPr>
          <p:cNvPr id="25" name="text-gbgsks">
            <a:extLst xmlns:a="http://schemas.openxmlformats.org/drawingml/2006/main">
              <a:ext uri="{FF2B5EF4-FFF2-40B4-BE49-F238E27FC236}">
                <a16:creationId xmlns:a16="http://schemas.microsoft.com/office/drawing/2014/main" id="{1E15F3EE-CC57-4950-8C9B-37478C85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Cadeia de filtros e permissões</a:t>
            </a:r>
          </a:p>
        </p:txBody>
      </p:sp>
      <p:sp>
        <p:nvSpPr>
          <p:cNvPr id="26" name="shape-r073td">
            <a:extLst xmlns:a="http://schemas.openxmlformats.org/drawingml/2006/main">
              <a:ext uri="{FF2B5EF4-FFF2-40B4-BE49-F238E27FC236}">
                <a16:creationId xmlns:a16="http://schemas.microsoft.com/office/drawing/2014/main" id="{F3CE29BE-AADA-4601-A4D5-379DABEB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19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ak61au">
            <a:extLst xmlns:a="http://schemas.openxmlformats.org/drawingml/2006/main">
              <a:ext uri="{FF2B5EF4-FFF2-40B4-BE49-F238E27FC236}">
                <a16:creationId xmlns:a16="http://schemas.microsoft.com/office/drawing/2014/main" id="{8D75601B-B5E7-4065-B16F-BA46A89E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6</a:t>
            </a:r>
          </a:p>
        </p:txBody>
      </p:sp>
      <p:sp>
        <p:nvSpPr>
          <p:cNvPr id="28" name="text-d5gzgd">
            <a:extLst xmlns:a="http://schemas.openxmlformats.org/drawingml/2006/main">
              <a:ext uri="{FF2B5EF4-FFF2-40B4-BE49-F238E27FC236}">
                <a16:creationId xmlns:a16="http://schemas.microsoft.com/office/drawing/2014/main" id="{8BE3569A-F412-49CB-9538-D24202D1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24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81B"/>
                </a:solidFill>
              </a:defRPr>
            </a:pPr>
            <a:r>
              <a:rPr sz="1650" b="1">
                <a:solidFill>
                  <a:srgbClr val="17181B"/>
                </a:solidFill>
              </a:rPr>
              <a:t>Swing</a:t>
            </a:r>
          </a:p>
        </p:txBody>
      </p:sp>
      <p:sp>
        <p:nvSpPr>
          <p:cNvPr id="29" name="text-5o0l2c">
            <a:extLst xmlns:a="http://schemas.openxmlformats.org/drawingml/2006/main">
              <a:ext uri="{FF2B5EF4-FFF2-40B4-BE49-F238E27FC236}">
                <a16:creationId xmlns:a16="http://schemas.microsoft.com/office/drawing/2014/main" id="{90F83B2D-CE58-406F-91B6-FA06E9DC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245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LoginScreen na EDT</a:t>
            </a:r>
          </a:p>
        </p:txBody>
      </p:sp>
      <p:sp>
        <p:nvSpPr>
          <p:cNvPr id="30" name="shape-6c97pu">
            <a:extLst xmlns:a="http://schemas.openxmlformats.org/drawingml/2006/main">
              <a:ext uri="{FF2B5EF4-FFF2-40B4-BE49-F238E27FC236}">
                <a16:creationId xmlns:a16="http://schemas.microsoft.com/office/drawing/2014/main" id="{F56A37BE-1F21-48C1-B84C-F42EF382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0"/>
            <a:ext cx="2171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r04bbu">
            <a:extLst xmlns:a="http://schemas.openxmlformats.org/drawingml/2006/main">
              <a:ext uri="{FF2B5EF4-FFF2-40B4-BE49-F238E27FC236}">
                <a16:creationId xmlns:a16="http://schemas.microsoft.com/office/drawing/2014/main" id="{264E25CA-9DBE-4479-A487-A408661E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9240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headless = false</a:t>
            </a:r>
          </a:p>
        </p:txBody>
      </p:sp>
    </p:spTree>
    <p:extLst>
      <p:ext uri="{BB962C8B-B14F-4D97-AF65-F5344CB8AC3E}">
        <p14:creationId xmlns:p14="http://schemas.microsoft.com/office/powerpoint/2010/main" val="15417839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1F4C2C-338B-451E-8AA6-58FEAD02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81B"/>
                </a:solidFill>
              </a:defRPr>
            </a:pPr>
            <a:r>
              <a:rPr sz="3000" b="1">
                <a:solidFill>
                  <a:srgbClr val="17181B"/>
                </a:solidFill>
              </a:rPr>
              <a:t>Política de segurança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A316496-6094-4D25-9C5B-3D3D1679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5F66"/>
                </a:solidFill>
              </a:defRPr>
            </a:pPr>
            <a:r>
              <a:rPr sz="1125" b="0">
                <a:solidFill>
                  <a:srgbClr val="5B5F66"/>
                </a:solidFill>
              </a:rPr>
              <a:t>06</a:t>
            </a:r>
          </a:p>
        </p:txBody>
      </p:sp>
      <p:sp>
        <p:nvSpPr>
          <p:cNvPr id="3" name="shape-isgkyh">
            <a:extLst xmlns:a="http://schemas.openxmlformats.org/drawingml/2006/main">
              <a:ext uri="{FF2B5EF4-FFF2-40B4-BE49-F238E27FC236}">
                <a16:creationId xmlns:a16="http://schemas.microsoft.com/office/drawing/2014/main" id="{902A8935-B99E-4792-A4FF-FBB0F277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00mzxt">
            <a:extLst xmlns:a="http://schemas.openxmlformats.org/drawingml/2006/main">
              <a:ext uri="{FF2B5EF4-FFF2-40B4-BE49-F238E27FC236}">
                <a16:creationId xmlns:a16="http://schemas.microsoft.com/office/drawing/2014/main" id="{0B642740-C815-4FC8-B445-7400C642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09750"/>
            <a:ext cx="5334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l17wgm">
            <a:extLst xmlns:a="http://schemas.openxmlformats.org/drawingml/2006/main">
              <a:ext uri="{FF2B5EF4-FFF2-40B4-BE49-F238E27FC236}">
                <a16:creationId xmlns:a16="http://schemas.microsoft.com/office/drawing/2014/main" id="{5D04D312-85DE-4747-A6AB-1CA2A479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7A4D"/>
                </a:solidFill>
              </a:defRPr>
            </a:pPr>
            <a:r>
              <a:rPr sz="1050" b="1">
                <a:solidFill>
                  <a:srgbClr val="1E7A4D"/>
                </a:solidFill>
              </a:rPr>
              <a:t>ROTAS PÚBLICAS</a:t>
            </a:r>
          </a:p>
        </p:txBody>
      </p:sp>
      <p:sp>
        <p:nvSpPr>
          <p:cNvPr id="6" name="shape-dretcj">
            <a:extLst xmlns:a="http://schemas.openxmlformats.org/drawingml/2006/main">
              <a:ext uri="{FF2B5EF4-FFF2-40B4-BE49-F238E27FC236}">
                <a16:creationId xmlns:a16="http://schemas.microsoft.com/office/drawing/2014/main" id="{EA411E8A-C9FA-4EC6-9FFA-E59E5EE0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33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kissa">
            <a:extLst xmlns:a="http://schemas.openxmlformats.org/drawingml/2006/main">
              <a:ext uri="{FF2B5EF4-FFF2-40B4-BE49-F238E27FC236}">
                <a16:creationId xmlns:a16="http://schemas.microsoft.com/office/drawing/2014/main" id="{006721F6-EAFF-4268-81B8-B04C028F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81B"/>
                </a:solidFill>
              </a:defRPr>
            </a:pPr>
            <a:r>
              <a:rPr sz="1500" b="0">
                <a:solidFill>
                  <a:srgbClr val="17181B"/>
                </a:solidFill>
              </a:rPr>
              <a:t>POST /api/auth/register</a:t>
            </a:r>
          </a:p>
        </p:txBody>
      </p:sp>
      <p:sp>
        <p:nvSpPr>
          <p:cNvPr id="8" name="shape-yuxzwh">
            <a:extLst xmlns:a="http://schemas.openxmlformats.org/drawingml/2006/main">
              <a:ext uri="{FF2B5EF4-FFF2-40B4-BE49-F238E27FC236}">
                <a16:creationId xmlns:a16="http://schemas.microsoft.com/office/drawing/2014/main" id="{1D32BC21-638E-4A08-9DF9-F73A4CCC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28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5t9v9t">
            <a:extLst xmlns:a="http://schemas.openxmlformats.org/drawingml/2006/main">
              <a:ext uri="{FF2B5EF4-FFF2-40B4-BE49-F238E27FC236}">
                <a16:creationId xmlns:a16="http://schemas.microsoft.com/office/drawing/2014/main" id="{DFEB974A-B57F-4A3F-A213-1B2CDA00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62300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81B"/>
                </a:solidFill>
              </a:defRPr>
            </a:pPr>
            <a:r>
              <a:rPr sz="1500" b="0">
                <a:solidFill>
                  <a:srgbClr val="17181B"/>
                </a:solidFill>
              </a:rPr>
              <a:t>POST /api/auth/login</a:t>
            </a:r>
          </a:p>
        </p:txBody>
      </p:sp>
      <p:sp>
        <p:nvSpPr>
          <p:cNvPr id="10" name="shape-dso3qr">
            <a:extLst xmlns:a="http://schemas.openxmlformats.org/drawingml/2006/main">
              <a:ext uri="{FF2B5EF4-FFF2-40B4-BE49-F238E27FC236}">
                <a16:creationId xmlns:a16="http://schemas.microsoft.com/office/drawing/2014/main" id="{5ED8C629-EBC4-4923-8100-4964CBD9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24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4zgb6y">
            <a:extLst xmlns:a="http://schemas.openxmlformats.org/drawingml/2006/main">
              <a:ext uri="{FF2B5EF4-FFF2-40B4-BE49-F238E27FC236}">
                <a16:creationId xmlns:a16="http://schemas.microsoft.com/office/drawing/2014/main" id="{198C2E01-0541-4856-BC5C-5BA46541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81B"/>
                </a:solidFill>
              </a:defRPr>
            </a:pPr>
            <a:r>
              <a:rPr sz="1500" b="0">
                <a:solidFill>
                  <a:srgbClr val="17181B"/>
                </a:solidFill>
              </a:rPr>
              <a:t>/swagger-ui/**</a:t>
            </a:r>
          </a:p>
        </p:txBody>
      </p:sp>
      <p:sp>
        <p:nvSpPr>
          <p:cNvPr id="12" name="shape-wmhp48">
            <a:extLst xmlns:a="http://schemas.openxmlformats.org/drawingml/2006/main">
              <a:ext uri="{FF2B5EF4-FFF2-40B4-BE49-F238E27FC236}">
                <a16:creationId xmlns:a16="http://schemas.microsoft.com/office/drawing/2014/main" id="{B4BFAA6B-8E60-43F2-B163-5B854313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19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qzoqu7">
            <a:extLst xmlns:a="http://schemas.openxmlformats.org/drawingml/2006/main">
              <a:ext uri="{FF2B5EF4-FFF2-40B4-BE49-F238E27FC236}">
                <a16:creationId xmlns:a16="http://schemas.microsoft.com/office/drawing/2014/main" id="{C909490A-EF66-4790-8115-85AB9005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81B"/>
                </a:solidFill>
              </a:defRPr>
            </a:pPr>
            <a:r>
              <a:rPr sz="1500" b="0">
                <a:solidFill>
                  <a:srgbClr val="17181B"/>
                </a:solidFill>
              </a:rPr>
              <a:t>/v3/api-docs/**</a:t>
            </a:r>
          </a:p>
        </p:txBody>
      </p:sp>
      <p:sp>
        <p:nvSpPr>
          <p:cNvPr id="14" name="shape-9qnpzo">
            <a:extLst xmlns:a="http://schemas.openxmlformats.org/drawingml/2006/main">
              <a:ext uri="{FF2B5EF4-FFF2-40B4-BE49-F238E27FC236}">
                <a16:creationId xmlns:a16="http://schemas.microsoft.com/office/drawing/2014/main" id="{53BAFDD6-45AF-47EA-884C-80F84690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wem2w7">
            <a:extLst xmlns:a="http://schemas.openxmlformats.org/drawingml/2006/main">
              <a:ext uri="{FF2B5EF4-FFF2-40B4-BE49-F238E27FC236}">
                <a16:creationId xmlns:a16="http://schemas.microsoft.com/office/drawing/2014/main" id="{A4D4733B-91B2-40B9-AA78-A0BCF398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81B"/>
                </a:solidFill>
              </a:defRPr>
            </a:pPr>
            <a:r>
              <a:rPr sz="1500" b="0">
                <a:solidFill>
                  <a:srgbClr val="17181B"/>
                </a:solidFill>
              </a:rPr>
              <a:t>/h2-console/**</a:t>
            </a:r>
          </a:p>
        </p:txBody>
      </p:sp>
      <p:sp>
        <p:nvSpPr>
          <p:cNvPr id="16" name="shape-hg22f9">
            <a:extLst xmlns:a="http://schemas.openxmlformats.org/drawingml/2006/main">
              <a:ext uri="{FF2B5EF4-FFF2-40B4-BE49-F238E27FC236}">
                <a16:creationId xmlns:a16="http://schemas.microsoft.com/office/drawing/2014/main" id="{C9FA9C71-752E-4A9D-96D1-B8282E48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09750"/>
            <a:ext cx="5734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bmzu7p">
            <a:extLst xmlns:a="http://schemas.openxmlformats.org/drawingml/2006/main">
              <a:ext uri="{FF2B5EF4-FFF2-40B4-BE49-F238E27FC236}">
                <a16:creationId xmlns:a16="http://schemas.microsoft.com/office/drawing/2014/main" id="{02095DB5-9C50-4419-959A-D4F25454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3535"/>
                </a:solidFill>
              </a:defRPr>
            </a:pPr>
            <a:r>
              <a:rPr sz="1050" b="1">
                <a:solidFill>
                  <a:srgbClr val="A73535"/>
                </a:solidFill>
              </a:rPr>
              <a:t>ROTAS PROTEGIDAS</a:t>
            </a:r>
          </a:p>
        </p:txBody>
      </p:sp>
      <p:sp>
        <p:nvSpPr>
          <p:cNvPr id="18" name="text-809d6b">
            <a:extLst xmlns:a="http://schemas.openxmlformats.org/drawingml/2006/main">
              <a:ext uri="{FF2B5EF4-FFF2-40B4-BE49-F238E27FC236}">
                <a16:creationId xmlns:a16="http://schemas.microsoft.com/office/drawing/2014/main" id="{77C3054A-001B-4BBB-9A7B-7FFBD3D0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81B"/>
                </a:solidFill>
              </a:defRPr>
            </a:pPr>
            <a:r>
              <a:rPr sz="2550" b="1">
                <a:solidFill>
                  <a:srgbClr val="17181B"/>
                </a:solidFill>
              </a:rPr>
              <a:t>/api/produtos</a:t>
            </a:r>
          </a:p>
        </p:txBody>
      </p:sp>
      <p:sp>
        <p:nvSpPr>
          <p:cNvPr id="19" name="text-5ypi3f">
            <a:extLst xmlns:a="http://schemas.openxmlformats.org/drawingml/2006/main">
              <a:ext uri="{FF2B5EF4-FFF2-40B4-BE49-F238E27FC236}">
                <a16:creationId xmlns:a16="http://schemas.microsoft.com/office/drawing/2014/main" id="{1B6AE854-3332-4B74-BEE6-E956CDB4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480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81B"/>
                </a:solidFill>
              </a:defRPr>
            </a:pPr>
            <a:r>
              <a:rPr sz="2325" b="1">
                <a:solidFill>
                  <a:srgbClr val="17181B"/>
                </a:solidFill>
              </a:rPr>
              <a:t>/api/produtos/{id}</a:t>
            </a:r>
          </a:p>
        </p:txBody>
      </p:sp>
      <p:sp>
        <p:nvSpPr>
          <p:cNvPr id="20" name="text-po3epb">
            <a:extLst xmlns:a="http://schemas.openxmlformats.org/drawingml/2006/main">
              <a:ext uri="{FF2B5EF4-FFF2-40B4-BE49-F238E27FC236}">
                <a16:creationId xmlns:a16="http://schemas.microsoft.com/office/drawing/2014/main" id="{27C170C4-9FB6-45CC-8FE1-E5988520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7675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5F66"/>
                </a:solidFill>
              </a:defRPr>
            </a:pPr>
            <a:r>
              <a:rPr sz="1500" b="0">
                <a:solidFill>
                  <a:srgbClr val="5B5F66"/>
                </a:solidFill>
              </a:rPr>
              <a:t>Qualquer rota não liberada também exige autenticação. Por isso / retorna 401.</a:t>
            </a:r>
          </a:p>
        </p:txBody>
      </p:sp>
    </p:spTree>
    <p:extLst>
      <p:ext uri="{BB962C8B-B14F-4D97-AF65-F5344CB8AC3E}">
        <p14:creationId xmlns:p14="http://schemas.microsoft.com/office/powerpoint/2010/main" val="10920584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3F18C3-8628-4C27-9D14-1B68E5B3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81B"/>
                </a:solidFill>
              </a:defRPr>
            </a:pPr>
            <a:r>
              <a:rPr sz="3000" b="1">
                <a:solidFill>
                  <a:srgbClr val="17181B"/>
                </a:solidFill>
              </a:rPr>
              <a:t>JWT: como a autenticação acontece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EA97492-642B-4EFD-9F8D-A75DC9AC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5F66"/>
                </a:solidFill>
              </a:defRPr>
            </a:pPr>
            <a:r>
              <a:rPr sz="1125" b="0">
                <a:solidFill>
                  <a:srgbClr val="5B5F66"/>
                </a:solidFill>
              </a:rPr>
              <a:t>07</a:t>
            </a:r>
          </a:p>
        </p:txBody>
      </p:sp>
      <p:sp>
        <p:nvSpPr>
          <p:cNvPr id="3" name="shape-a9muqy">
            <a:extLst xmlns:a="http://schemas.openxmlformats.org/drawingml/2006/main">
              <a:ext uri="{FF2B5EF4-FFF2-40B4-BE49-F238E27FC236}">
                <a16:creationId xmlns:a16="http://schemas.microsoft.com/office/drawing/2014/main" id="{CFF8CA9F-2F49-4C47-B588-19C82880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bog1ma">
            <a:extLst xmlns:a="http://schemas.openxmlformats.org/drawingml/2006/main">
              <a:ext uri="{FF2B5EF4-FFF2-40B4-BE49-F238E27FC236}">
                <a16:creationId xmlns:a16="http://schemas.microsoft.com/office/drawing/2014/main" id="{74C6BCBD-E797-4AB9-A099-F1363D1E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62200"/>
            <a:ext cx="18478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F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5" name="text-qg5w95">
            <a:extLst xmlns:a="http://schemas.openxmlformats.org/drawingml/2006/main">
              <a:ext uri="{FF2B5EF4-FFF2-40B4-BE49-F238E27FC236}">
                <a16:creationId xmlns:a16="http://schemas.microsoft.com/office/drawing/2014/main" id="{1C14B5D9-5FE3-4D94-8CBE-EA8F8DC4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6" name="text-hqt02n">
            <a:extLst xmlns:a="http://schemas.openxmlformats.org/drawingml/2006/main">
              <a:ext uri="{FF2B5EF4-FFF2-40B4-BE49-F238E27FC236}">
                <a16:creationId xmlns:a16="http://schemas.microsoft.com/office/drawing/2014/main" id="{9B807FD4-AE38-42AF-87D4-2F9A8914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81B"/>
                </a:solidFill>
              </a:defRPr>
            </a:pPr>
            <a:r>
              <a:rPr sz="1875" b="1">
                <a:solidFill>
                  <a:srgbClr val="17181B"/>
                </a:solidFill>
              </a:rPr>
              <a:t>Login</a:t>
            </a:r>
          </a:p>
        </p:txBody>
      </p:sp>
      <p:sp>
        <p:nvSpPr>
          <p:cNvPr id="7" name="text-b620t2">
            <a:extLst xmlns:a="http://schemas.openxmlformats.org/drawingml/2006/main">
              <a:ext uri="{FF2B5EF4-FFF2-40B4-BE49-F238E27FC236}">
                <a16:creationId xmlns:a16="http://schemas.microsoft.com/office/drawing/2014/main" id="{D9196BA1-EA07-499E-BC28-B17A4B1F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Usuário + senha</a:t>
            </a:r>
          </a:p>
        </p:txBody>
      </p:sp>
      <p:sp>
        <p:nvSpPr>
          <p:cNvPr id="8" name="shape-jwvg0s">
            <a:extLst xmlns:a="http://schemas.openxmlformats.org/drawingml/2006/main">
              <a:ext uri="{FF2B5EF4-FFF2-40B4-BE49-F238E27FC236}">
                <a16:creationId xmlns:a16="http://schemas.microsoft.com/office/drawing/2014/main" id="{1D6E223C-0CC9-4938-8DA7-32B78AA8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1813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-imhg4d">
            <a:extLst xmlns:a="http://schemas.openxmlformats.org/drawingml/2006/main">
              <a:ext uri="{FF2B5EF4-FFF2-40B4-BE49-F238E27FC236}">
                <a16:creationId xmlns:a16="http://schemas.microsoft.com/office/drawing/2014/main" id="{2C470C70-1F1E-4FF9-B911-F629971C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62200"/>
            <a:ext cx="18478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F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10" name="text-qcft3l">
            <a:extLst xmlns:a="http://schemas.openxmlformats.org/drawingml/2006/main">
              <a:ext uri="{FF2B5EF4-FFF2-40B4-BE49-F238E27FC236}">
                <a16:creationId xmlns:a16="http://schemas.microsoft.com/office/drawing/2014/main" id="{5B3E1DB2-8918-4AA9-8FEA-14BF2036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336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11" name="text-l8fnq8">
            <a:extLst xmlns:a="http://schemas.openxmlformats.org/drawingml/2006/main">
              <a:ext uri="{FF2B5EF4-FFF2-40B4-BE49-F238E27FC236}">
                <a16:creationId xmlns:a16="http://schemas.microsoft.com/office/drawing/2014/main" id="{F0E05F47-E32C-4163-AC94-95068764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051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81B"/>
                </a:solidFill>
              </a:defRPr>
            </a:pPr>
            <a:r>
              <a:rPr sz="1875" b="1">
                <a:solidFill>
                  <a:srgbClr val="17181B"/>
                </a:solidFill>
              </a:rPr>
              <a:t>BCrypt</a:t>
            </a:r>
          </a:p>
        </p:txBody>
      </p:sp>
      <p:sp>
        <p:nvSpPr>
          <p:cNvPr id="12" name="text-086ge2">
            <a:extLst xmlns:a="http://schemas.openxmlformats.org/drawingml/2006/main">
              <a:ext uri="{FF2B5EF4-FFF2-40B4-BE49-F238E27FC236}">
                <a16:creationId xmlns:a16="http://schemas.microsoft.com/office/drawing/2014/main" id="{FA902AFF-016F-4FB7-8ACF-D919151E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1950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Compara o hash</a:t>
            </a:r>
          </a:p>
        </p:txBody>
      </p:sp>
      <p:sp>
        <p:nvSpPr>
          <p:cNvPr id="13" name="shape-kujgae">
            <a:extLst xmlns:a="http://schemas.openxmlformats.org/drawingml/2006/main">
              <a:ext uri="{FF2B5EF4-FFF2-40B4-BE49-F238E27FC236}">
                <a16:creationId xmlns:a16="http://schemas.microsoft.com/office/drawing/2014/main" id="{A6875BB5-6D00-4262-A896-E31F110E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813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hape-diq821">
            <a:extLst xmlns:a="http://schemas.openxmlformats.org/drawingml/2006/main">
              <a:ext uri="{FF2B5EF4-FFF2-40B4-BE49-F238E27FC236}">
                <a16:creationId xmlns:a16="http://schemas.microsoft.com/office/drawing/2014/main" id="{4C6C4944-0F92-4CC6-8E64-623B9BB8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62200"/>
            <a:ext cx="18478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15" name="text-96qg6o">
            <a:extLst xmlns:a="http://schemas.openxmlformats.org/drawingml/2006/main">
              <a:ext uri="{FF2B5EF4-FFF2-40B4-BE49-F238E27FC236}">
                <a16:creationId xmlns:a16="http://schemas.microsoft.com/office/drawing/2014/main" id="{C48E0C21-C270-4914-B5D5-0CA4C8B7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336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6" name="text-36uxqi">
            <a:extLst xmlns:a="http://schemas.openxmlformats.org/drawingml/2006/main">
              <a:ext uri="{FF2B5EF4-FFF2-40B4-BE49-F238E27FC236}">
                <a16:creationId xmlns:a16="http://schemas.microsoft.com/office/drawing/2014/main" id="{C22BD2D4-A82D-47BF-89CF-9D070246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051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81B"/>
                </a:solidFill>
              </a:defRPr>
            </a:pPr>
            <a:r>
              <a:rPr sz="1875" b="1">
                <a:solidFill>
                  <a:srgbClr val="17181B"/>
                </a:solidFill>
              </a:rPr>
              <a:t>Token</a:t>
            </a:r>
          </a:p>
        </p:txBody>
      </p:sp>
      <p:sp>
        <p:nvSpPr>
          <p:cNvPr id="17" name="text-8l6qtx">
            <a:extLst xmlns:a="http://schemas.openxmlformats.org/drawingml/2006/main">
              <a:ext uri="{FF2B5EF4-FFF2-40B4-BE49-F238E27FC236}">
                <a16:creationId xmlns:a16="http://schemas.microsoft.com/office/drawing/2014/main" id="{D92D7A32-73AD-40E1-95F7-1DD14429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1950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sub + iat + exp</a:t>
            </a:r>
          </a:p>
        </p:txBody>
      </p:sp>
      <p:sp>
        <p:nvSpPr>
          <p:cNvPr id="18" name="shape-f7zcuu">
            <a:extLst xmlns:a="http://schemas.openxmlformats.org/drawingml/2006/main">
              <a:ext uri="{FF2B5EF4-FFF2-40B4-BE49-F238E27FC236}">
                <a16:creationId xmlns:a16="http://schemas.microsoft.com/office/drawing/2014/main" id="{5DAB88E7-D4CE-43F3-B05E-3DE29564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813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hape-rvm1iy">
            <a:extLst xmlns:a="http://schemas.openxmlformats.org/drawingml/2006/main">
              <a:ext uri="{FF2B5EF4-FFF2-40B4-BE49-F238E27FC236}">
                <a16:creationId xmlns:a16="http://schemas.microsoft.com/office/drawing/2014/main" id="{D363318B-8E6C-4615-A584-55CA9902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62200"/>
            <a:ext cx="18478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F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20" name="text-vxlfuq">
            <a:extLst xmlns:a="http://schemas.openxmlformats.org/drawingml/2006/main">
              <a:ext uri="{FF2B5EF4-FFF2-40B4-BE49-F238E27FC236}">
                <a16:creationId xmlns:a16="http://schemas.microsoft.com/office/drawing/2014/main" id="{2B93E617-FCD1-4EC7-91F7-40CA899D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336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4</a:t>
            </a:r>
          </a:p>
        </p:txBody>
      </p:sp>
      <p:sp>
        <p:nvSpPr>
          <p:cNvPr id="21" name="text-9cmt5b">
            <a:extLst xmlns:a="http://schemas.openxmlformats.org/drawingml/2006/main">
              <a:ext uri="{FF2B5EF4-FFF2-40B4-BE49-F238E27FC236}">
                <a16:creationId xmlns:a16="http://schemas.microsoft.com/office/drawing/2014/main" id="{85C19BC4-37A9-4F60-8C15-34A71A96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051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81B"/>
                </a:solidFill>
              </a:defRPr>
            </a:pPr>
            <a:r>
              <a:rPr sz="1875" b="1">
                <a:solidFill>
                  <a:srgbClr val="17181B"/>
                </a:solidFill>
              </a:rPr>
              <a:t>Bearer</a:t>
            </a:r>
          </a:p>
        </p:txBody>
      </p:sp>
      <p:sp>
        <p:nvSpPr>
          <p:cNvPr id="22" name="text-qspx6l">
            <a:extLst xmlns:a="http://schemas.openxmlformats.org/drawingml/2006/main">
              <a:ext uri="{FF2B5EF4-FFF2-40B4-BE49-F238E27FC236}">
                <a16:creationId xmlns:a16="http://schemas.microsoft.com/office/drawing/2014/main" id="{401B278D-0E8F-4534-AEAC-C0EA0C15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Vai no header</a:t>
            </a:r>
          </a:p>
        </p:txBody>
      </p:sp>
      <p:sp>
        <p:nvSpPr>
          <p:cNvPr id="23" name="shape-26ehld">
            <a:extLst xmlns:a="http://schemas.openxmlformats.org/drawingml/2006/main">
              <a:ext uri="{FF2B5EF4-FFF2-40B4-BE49-F238E27FC236}">
                <a16:creationId xmlns:a16="http://schemas.microsoft.com/office/drawing/2014/main" id="{E716AEF7-EBB5-42FB-80BE-E3BBE8EE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813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hape-xkqx4v">
            <a:extLst xmlns:a="http://schemas.openxmlformats.org/drawingml/2006/main">
              <a:ext uri="{FF2B5EF4-FFF2-40B4-BE49-F238E27FC236}">
                <a16:creationId xmlns:a16="http://schemas.microsoft.com/office/drawing/2014/main" id="{F040EC7C-D244-4BFF-80C1-E0CDDACD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62200"/>
            <a:ext cx="18478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F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25" name="text-kq2q8z">
            <a:extLst xmlns:a="http://schemas.openxmlformats.org/drawingml/2006/main">
              <a:ext uri="{FF2B5EF4-FFF2-40B4-BE49-F238E27FC236}">
                <a16:creationId xmlns:a16="http://schemas.microsoft.com/office/drawing/2014/main" id="{678D62DE-0C0C-490E-9AAD-707FE961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336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5</a:t>
            </a:r>
          </a:p>
        </p:txBody>
      </p:sp>
      <p:sp>
        <p:nvSpPr>
          <p:cNvPr id="26" name="text-olr8wf">
            <a:extLst xmlns:a="http://schemas.openxmlformats.org/drawingml/2006/main">
              <a:ext uri="{FF2B5EF4-FFF2-40B4-BE49-F238E27FC236}">
                <a16:creationId xmlns:a16="http://schemas.microsoft.com/office/drawing/2014/main" id="{67DBA4C7-82BE-4C6F-8EFD-919B4053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051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81B"/>
                </a:solidFill>
              </a:defRPr>
            </a:pPr>
            <a:r>
              <a:rPr sz="1875" b="1">
                <a:solidFill>
                  <a:srgbClr val="17181B"/>
                </a:solidFill>
              </a:rPr>
              <a:t>Filtro</a:t>
            </a:r>
          </a:p>
        </p:txBody>
      </p:sp>
      <p:sp>
        <p:nvSpPr>
          <p:cNvPr id="27" name="text-kbtm9e">
            <a:extLst xmlns:a="http://schemas.openxmlformats.org/drawingml/2006/main">
              <a:ext uri="{FF2B5EF4-FFF2-40B4-BE49-F238E27FC236}">
                <a16:creationId xmlns:a16="http://schemas.microsoft.com/office/drawing/2014/main" id="{1F9B32C8-27E3-4597-876E-448A550B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1950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Valida cada chamada</a:t>
            </a:r>
          </a:p>
        </p:txBody>
      </p:sp>
      <p:sp>
        <p:nvSpPr>
          <p:cNvPr id="28" name="text-fzijwq">
            <a:extLst xmlns:a="http://schemas.openxmlformats.org/drawingml/2006/main">
              <a:ext uri="{FF2B5EF4-FFF2-40B4-BE49-F238E27FC236}">
                <a16:creationId xmlns:a16="http://schemas.microsoft.com/office/drawing/2014/main" id="{BCFF4B9D-3090-49E4-83DB-472D907C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768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81B"/>
                </a:solidFill>
              </a:defRPr>
            </a:pPr>
            <a:r>
              <a:rPr sz="1500" b="1">
                <a:solidFill>
                  <a:srgbClr val="17181B"/>
                </a:solidFill>
              </a:rPr>
              <a:t>Validade: 86.400.000 ms = 24 horas</a:t>
            </a:r>
          </a:p>
        </p:txBody>
      </p:sp>
      <p:sp>
        <p:nvSpPr>
          <p:cNvPr id="29" name="text-38ci9f">
            <a:extLst xmlns:a="http://schemas.openxmlformats.org/drawingml/2006/main">
              <a:ext uri="{FF2B5EF4-FFF2-40B4-BE49-F238E27FC236}">
                <a16:creationId xmlns:a16="http://schemas.microsoft.com/office/drawing/2014/main" id="{8A20BBFC-A9C3-4946-8738-D3E8805B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340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3535"/>
                </a:solidFill>
              </a:defRPr>
            </a:pPr>
            <a:r>
              <a:rPr sz="1350" b="0">
                <a:solidFill>
                  <a:srgbClr val="A73535"/>
                </a:solidFill>
              </a:rPr>
              <a:t>JWT é assinado, não criptografado. O payload pode ser lido.</a:t>
            </a:r>
          </a:p>
        </p:txBody>
      </p:sp>
    </p:spTree>
    <p:extLst>
      <p:ext uri="{BB962C8B-B14F-4D97-AF65-F5344CB8AC3E}">
        <p14:creationId xmlns:p14="http://schemas.microsoft.com/office/powerpoint/2010/main" val="16892974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934F37-C676-4EC1-A2FE-8C76738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81B"/>
                </a:solidFill>
              </a:defRPr>
            </a:pPr>
            <a:r>
              <a:rPr sz="3000" b="1">
                <a:solidFill>
                  <a:srgbClr val="17181B"/>
                </a:solidFill>
              </a:rPr>
              <a:t>Autenticação: dois endpoints públicos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AF79D07-D0FD-4B4E-9F3F-6E06B4E4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5F66"/>
                </a:solidFill>
              </a:defRPr>
            </a:pPr>
            <a:r>
              <a:rPr sz="1125" b="0">
                <a:solidFill>
                  <a:srgbClr val="5B5F66"/>
                </a:solidFill>
              </a:rPr>
              <a:t>08</a:t>
            </a:r>
          </a:p>
        </p:txBody>
      </p:sp>
      <p:sp>
        <p:nvSpPr>
          <p:cNvPr id="3" name="shape-hbbsfk">
            <a:extLst xmlns:a="http://schemas.openxmlformats.org/drawingml/2006/main">
              <a:ext uri="{FF2B5EF4-FFF2-40B4-BE49-F238E27FC236}">
                <a16:creationId xmlns:a16="http://schemas.microsoft.com/office/drawing/2014/main" id="{D71D5029-7561-4A29-9A34-A00CC3D1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frhmxq">
            <a:extLst xmlns:a="http://schemas.openxmlformats.org/drawingml/2006/main">
              <a:ext uri="{FF2B5EF4-FFF2-40B4-BE49-F238E27FC236}">
                <a16:creationId xmlns:a16="http://schemas.microsoft.com/office/drawing/2014/main" id="{E321907D-DAFE-41AD-A0AE-40A903C5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0975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wv7u4b">
            <a:extLst xmlns:a="http://schemas.openxmlformats.org/drawingml/2006/main">
              <a:ext uri="{FF2B5EF4-FFF2-40B4-BE49-F238E27FC236}">
                <a16:creationId xmlns:a16="http://schemas.microsoft.com/office/drawing/2014/main" id="{94C68C40-3335-40B3-9B66-BBEE1AA3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POST /API/AUTH/REGISTER</a:t>
            </a:r>
          </a:p>
        </p:txBody>
      </p:sp>
      <p:sp>
        <p:nvSpPr>
          <p:cNvPr id="6" name="text-zpf87u">
            <a:extLst xmlns:a="http://schemas.openxmlformats.org/drawingml/2006/main">
              <a:ext uri="{FF2B5EF4-FFF2-40B4-BE49-F238E27FC236}">
                <a16:creationId xmlns:a16="http://schemas.microsoft.com/office/drawing/2014/main" id="{DCD07487-D6B0-43CB-A7CB-A9852E8F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44767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81B"/>
                </a:solidFill>
              </a:defRPr>
            </a:pPr>
            <a:r>
              <a:rPr sz="1575" b="0">
                <a:solidFill>
                  <a:srgbClr val="17181B"/>
                </a:solidFill>
              </a:rPr>
              <a:t>1. Verifica username e e-mail</a:t>
            </a:r>
          </a:p>
          <a:p xmlns:a="http://schemas.openxmlformats.org/drawingml/2006/main">
            <a:pPr algn="l">
              <a:defRPr sz="1575" b="0">
                <a:solidFill>
                  <a:srgbClr val="17181B"/>
                </a:solidFill>
              </a:defRPr>
            </a:pPr>
            <a:r>
              <a:rPr sz="1575" b="0">
                <a:solidFill>
                  <a:srgbClr val="17181B"/>
                </a:solidFill>
              </a:rPr>
              <a:t>2. Criptografa com BCrypt</a:t>
            </a:r>
          </a:p>
          <a:p xmlns:a="http://schemas.openxmlformats.org/drawingml/2006/main">
            <a:pPr algn="l">
              <a:defRPr sz="1575" b="0">
                <a:solidFill>
                  <a:srgbClr val="17181B"/>
                </a:solidFill>
              </a:defRPr>
            </a:pPr>
            <a:r>
              <a:rPr sz="1575" b="0">
                <a:solidFill>
                  <a:srgbClr val="17181B"/>
                </a:solidFill>
              </a:rPr>
              <a:t>3. Salva Usuario ativo</a:t>
            </a:r>
          </a:p>
          <a:p xmlns:a="http://schemas.openxmlformats.org/drawingml/2006/main">
            <a:pPr algn="l">
              <a:defRPr sz="1575" b="0">
                <a:solidFill>
                  <a:srgbClr val="17181B"/>
                </a:solidFill>
              </a:defRPr>
            </a:pPr>
            <a:r>
              <a:rPr sz="1575" b="0">
                <a:solidFill>
                  <a:srgbClr val="17181B"/>
                </a:solidFill>
              </a:rPr>
              <a:t>4. Gera JWT</a:t>
            </a:r>
          </a:p>
          <a:p xmlns:a="http://schemas.openxmlformats.org/drawingml/2006/main">
            <a:pPr algn="l">
              <a:defRPr sz="1575" b="0">
                <a:solidFill>
                  <a:srgbClr val="17181B"/>
                </a:solidFill>
              </a:defRPr>
            </a:pPr>
            <a:r>
              <a:rPr sz="1575" b="0">
                <a:solidFill>
                  <a:srgbClr val="17181B"/>
                </a:solidFill>
              </a:rPr>
              <a:t>5. Retorna 201 Created</a:t>
            </a:r>
          </a:p>
        </p:txBody>
      </p:sp>
      <p:sp>
        <p:nvSpPr>
          <p:cNvPr id="7" name="shape-86yhl1">
            <a:extLst xmlns:a="http://schemas.openxmlformats.org/drawingml/2006/main">
              <a:ext uri="{FF2B5EF4-FFF2-40B4-BE49-F238E27FC236}">
                <a16:creationId xmlns:a16="http://schemas.microsoft.com/office/drawing/2014/main" id="{7F192F1F-EB23-4B8D-B90D-FA9C4F85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acps4c">
            <a:extLst xmlns:a="http://schemas.openxmlformats.org/drawingml/2006/main">
              <a:ext uri="{FF2B5EF4-FFF2-40B4-BE49-F238E27FC236}">
                <a16:creationId xmlns:a16="http://schemas.microsoft.com/office/drawing/2014/main" id="{E30F9CE6-A1EB-4A6E-BC5D-EF42A02D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73535"/>
                </a:solidFill>
              </a:defRPr>
            </a:pPr>
            <a:r>
              <a:rPr sz="1125" b="1">
                <a:solidFill>
                  <a:srgbClr val="A73535"/>
                </a:solidFill>
              </a:rPr>
              <a:t>409 se houver duplicidade</a:t>
            </a:r>
          </a:p>
        </p:txBody>
      </p:sp>
      <p:sp>
        <p:nvSpPr>
          <p:cNvPr id="9" name="shape-ox0wk4">
            <a:extLst xmlns:a="http://schemas.openxmlformats.org/drawingml/2006/main">
              <a:ext uri="{FF2B5EF4-FFF2-40B4-BE49-F238E27FC236}">
                <a16:creationId xmlns:a16="http://schemas.microsoft.com/office/drawing/2014/main" id="{83933071-02FA-4EEB-AF42-E663EC76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09750"/>
            <a:ext cx="5734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10" name="text-mr0in9">
            <a:extLst xmlns:a="http://schemas.openxmlformats.org/drawingml/2006/main">
              <a:ext uri="{FF2B5EF4-FFF2-40B4-BE49-F238E27FC236}">
                <a16:creationId xmlns:a16="http://schemas.microsoft.com/office/drawing/2014/main" id="{4AC3AE24-D280-4B23-9F5D-FC0999B5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POST /API/AUTH/LOGIN</a:t>
            </a:r>
          </a:p>
        </p:txBody>
      </p:sp>
      <p:sp>
        <p:nvSpPr>
          <p:cNvPr id="11" name="text-w7dv3j">
            <a:extLst xmlns:a="http://schemas.openxmlformats.org/drawingml/2006/main">
              <a:ext uri="{FF2B5EF4-FFF2-40B4-BE49-F238E27FC236}">
                <a16:creationId xmlns:a16="http://schemas.microsoft.com/office/drawing/2014/main" id="{17FD6596-F38B-4586-B755-E5DF124F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86050"/>
            <a:ext cx="47625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81B"/>
                </a:solidFill>
              </a:defRPr>
            </a:pPr>
            <a:r>
              <a:rPr sz="1575" b="0">
                <a:solidFill>
                  <a:srgbClr val="17181B"/>
                </a:solidFill>
              </a:rPr>
              <a:t>1. AuthenticationManager</a:t>
            </a:r>
          </a:p>
          <a:p xmlns:a="http://schemas.openxmlformats.org/drawingml/2006/main">
            <a:pPr algn="l">
              <a:defRPr sz="1575" b="0">
                <a:solidFill>
                  <a:srgbClr val="17181B"/>
                </a:solidFill>
              </a:defRPr>
            </a:pPr>
            <a:r>
              <a:rPr sz="1575" b="0">
                <a:solidFill>
                  <a:srgbClr val="17181B"/>
                </a:solidFill>
              </a:rPr>
              <a:t>2. UserDetailsService busca usuário</a:t>
            </a:r>
          </a:p>
          <a:p xmlns:a="http://schemas.openxmlformats.org/drawingml/2006/main">
            <a:pPr algn="l">
              <a:defRPr sz="1575" b="0">
                <a:solidFill>
                  <a:srgbClr val="17181B"/>
                </a:solidFill>
              </a:defRPr>
            </a:pPr>
            <a:r>
              <a:rPr sz="1575" b="0">
                <a:solidFill>
                  <a:srgbClr val="17181B"/>
                </a:solidFill>
              </a:rPr>
              <a:t>3. BCrypt compara a senha</a:t>
            </a:r>
          </a:p>
          <a:p xmlns:a="http://schemas.openxmlformats.org/drawingml/2006/main">
            <a:pPr algn="l">
              <a:defRPr sz="1575" b="0">
                <a:solidFill>
                  <a:srgbClr val="17181B"/>
                </a:solidFill>
              </a:defRPr>
            </a:pPr>
            <a:r>
              <a:rPr sz="1575" b="0">
                <a:solidFill>
                  <a:srgbClr val="17181B"/>
                </a:solidFill>
              </a:rPr>
              <a:t>4. JwtTokenUtil gera token</a:t>
            </a:r>
          </a:p>
          <a:p xmlns:a="http://schemas.openxmlformats.org/drawingml/2006/main">
            <a:pPr algn="l">
              <a:defRPr sz="1575" b="0">
                <a:solidFill>
                  <a:srgbClr val="17181B"/>
                </a:solidFill>
              </a:defRPr>
            </a:pPr>
            <a:r>
              <a:rPr sz="1575" b="0">
                <a:solidFill>
                  <a:srgbClr val="17181B"/>
                </a:solidFill>
              </a:rPr>
              <a:t>5. Retorna 200 OK</a:t>
            </a:r>
          </a:p>
        </p:txBody>
      </p:sp>
      <p:sp>
        <p:nvSpPr>
          <p:cNvPr id="12" name="shape-dac60r">
            <a:extLst xmlns:a="http://schemas.openxmlformats.org/drawingml/2006/main">
              <a:ext uri="{FF2B5EF4-FFF2-40B4-BE49-F238E27FC236}">
                <a16:creationId xmlns:a16="http://schemas.microsoft.com/office/drawing/2014/main" id="{53A377FC-9421-42AC-A0B8-A21FC750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197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a5inof">
            <a:extLst xmlns:a="http://schemas.openxmlformats.org/drawingml/2006/main">
              <a:ext uri="{FF2B5EF4-FFF2-40B4-BE49-F238E27FC236}">
                <a16:creationId xmlns:a16="http://schemas.microsoft.com/office/drawing/2014/main" id="{6C0ABC90-5BF4-4212-A4E5-2AD82F64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863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73535"/>
                </a:solidFill>
              </a:defRPr>
            </a:pPr>
            <a:r>
              <a:rPr sz="1125" b="1">
                <a:solidFill>
                  <a:srgbClr val="A73535"/>
                </a:solidFill>
              </a:rPr>
              <a:t>401 se as credenciais falharem</a:t>
            </a:r>
          </a:p>
        </p:txBody>
      </p:sp>
    </p:spTree>
    <p:extLst>
      <p:ext uri="{BB962C8B-B14F-4D97-AF65-F5344CB8AC3E}">
        <p14:creationId xmlns:p14="http://schemas.microsoft.com/office/powerpoint/2010/main" val="1484967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9299DA-5503-4C3A-8AB6-094397A4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81B"/>
                </a:solidFill>
              </a:defRPr>
            </a:pPr>
            <a:r>
              <a:rPr sz="3000" b="1">
                <a:solidFill>
                  <a:srgbClr val="17181B"/>
                </a:solidFill>
              </a:rPr>
              <a:t>API de produtos</a:t>
            </a:r>
          </a:p>
        </p:txBody>
      </p:sp>
      <p:sp>
        <p:nvSpPr>
          <p:cNvPr id="2" name="text-24st59">
            <a:extLst xmlns:a="http://schemas.openxmlformats.org/drawingml/2006/main">
              <a:ext uri="{FF2B5EF4-FFF2-40B4-BE49-F238E27FC236}">
                <a16:creationId xmlns:a16="http://schemas.microsoft.com/office/drawing/2014/main" id="{6219110C-6966-4BF3-9C74-594F96EF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Todos os endpoints exigem Authorization: Bearer &lt;JWT&gt;.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E3AF855-33E7-4BE6-A599-7B8AE3AA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5F66"/>
                </a:solidFill>
              </a:defRPr>
            </a:pPr>
            <a:r>
              <a:rPr sz="1125" b="0">
                <a:solidFill>
                  <a:srgbClr val="5B5F66"/>
                </a:solidFill>
              </a:rPr>
              <a:t>09</a:t>
            </a:r>
          </a:p>
        </p:txBody>
      </p:sp>
      <p:sp>
        <p:nvSpPr>
          <p:cNvPr id="4" name="shape-9az5q3">
            <a:extLst xmlns:a="http://schemas.openxmlformats.org/drawingml/2006/main">
              <a:ext uri="{FF2B5EF4-FFF2-40B4-BE49-F238E27FC236}">
                <a16:creationId xmlns:a16="http://schemas.microsoft.com/office/drawing/2014/main" id="{550E3B7E-068C-48F6-9044-9DCE3A66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19100" y="1952625"/>
          <a:ext xmlns:a="http://schemas.openxmlformats.org/drawingml/2006/main" cx="11372850" cy="3333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28750"/>
                <a:gridCol w="3429000"/>
                <a:gridCol w="1619250"/>
                <a:gridCol w="4895850"/>
              </a:tblGrid>
              <a:tr h="555625">
                <a:tc>
                  <a:txBody>
                    <a:bodyPr/>
                    <a:lstStyle/>
                    <a:p>
                      <a:r>
                        <a:t>Método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Rota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Sucesso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Comportamento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t>GET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/api/produtos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Lista todos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t>GET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/api/produtos/{id}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200 / 404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Busca por ID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t>POST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/api/produtos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Cria produto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t>PUT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/api/produtos/{id}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200 / 404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Atualiza campos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t>DELETE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/api/produtos/{id}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204 / 404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Exclui definitivamente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text-siitlq">
            <a:extLst xmlns:a="http://schemas.openxmlformats.org/drawingml/2006/main">
              <a:ext uri="{FF2B5EF4-FFF2-40B4-BE49-F238E27FC236}">
                <a16:creationId xmlns:a16="http://schemas.microsoft.com/office/drawing/2014/main" id="{A85A6252-26C8-4420-932F-CB79C042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19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5F66"/>
                </a:solidFill>
              </a:defRPr>
            </a:pPr>
            <a:r>
              <a:rPr sz="1200" b="1">
                <a:solidFill>
                  <a:srgbClr val="5B5F66"/>
                </a:solidFill>
              </a:rPr>
              <a:t>Modelo Produto</a:t>
            </a:r>
          </a:p>
        </p:txBody>
      </p:sp>
      <p:sp>
        <p:nvSpPr>
          <p:cNvPr id="7" name="text-r6z0ul">
            <a:extLst xmlns:a="http://schemas.openxmlformats.org/drawingml/2006/main">
              <a:ext uri="{FF2B5EF4-FFF2-40B4-BE49-F238E27FC236}">
                <a16:creationId xmlns:a16="http://schemas.microsoft.com/office/drawing/2014/main" id="{4D08402D-6C66-4964-939C-26643BE6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5816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81B"/>
                </a:solidFill>
              </a:defRPr>
            </a:pPr>
            <a:r>
              <a:rPr sz="1350" b="0">
                <a:solidFill>
                  <a:srgbClr val="17181B"/>
                </a:solidFill>
              </a:rPr>
              <a:t>id  |  nome  |  descricao  |  preco  |  quantidadeEstoque</a:t>
            </a:r>
          </a:p>
        </p:txBody>
      </p:sp>
    </p:spTree>
    <p:extLst>
      <p:ext uri="{BB962C8B-B14F-4D97-AF65-F5344CB8AC3E}">
        <p14:creationId xmlns:p14="http://schemas.microsoft.com/office/powerpoint/2010/main" val="3662223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30B5BF-BB68-4923-B378-3E3A7523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81B"/>
                </a:solidFill>
              </a:defRPr>
            </a:pPr>
            <a:r>
              <a:rPr sz="3000" b="1">
                <a:solidFill>
                  <a:srgbClr val="17181B"/>
                </a:solidFill>
              </a:rPr>
              <a:t>O caminho de um cadastro de produto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C858327-2CE4-470B-959A-CDEA7523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5F66"/>
                </a:solidFill>
              </a:defRPr>
            </a:pPr>
            <a:r>
              <a:rPr sz="1125" b="0">
                <a:solidFill>
                  <a:srgbClr val="5B5F66"/>
                </a:solidFill>
              </a:rPr>
              <a:t>10</a:t>
            </a:r>
          </a:p>
        </p:txBody>
      </p:sp>
      <p:sp>
        <p:nvSpPr>
          <p:cNvPr id="3" name="shape-a1h3ht">
            <a:extLst xmlns:a="http://schemas.openxmlformats.org/drawingml/2006/main">
              <a:ext uri="{FF2B5EF4-FFF2-40B4-BE49-F238E27FC236}">
                <a16:creationId xmlns:a16="http://schemas.microsoft.com/office/drawing/2014/main" id="{E7F42F17-E509-420C-A3B2-D4331F6C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so64vk">
            <a:extLst xmlns:a="http://schemas.openxmlformats.org/drawingml/2006/main">
              <a:ext uri="{FF2B5EF4-FFF2-40B4-BE49-F238E27FC236}">
                <a16:creationId xmlns:a16="http://schemas.microsoft.com/office/drawing/2014/main" id="{26624B52-2B09-4368-9A16-9E389BC1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5" name="shape-bc34hf">
            <a:extLst xmlns:a="http://schemas.openxmlformats.org/drawingml/2006/main">
              <a:ext uri="{FF2B5EF4-FFF2-40B4-BE49-F238E27FC236}">
                <a16:creationId xmlns:a16="http://schemas.microsoft.com/office/drawing/2014/main" id="{0458B16F-3ADB-45CA-B952-17F814D0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19350"/>
            <a:ext cx="16192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F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6" name="shape-3404mn">
            <a:extLst xmlns:a="http://schemas.openxmlformats.org/drawingml/2006/main">
              <a:ext uri="{FF2B5EF4-FFF2-40B4-BE49-F238E27FC236}">
                <a16:creationId xmlns:a16="http://schemas.microsoft.com/office/drawing/2014/main" id="{7179D8FA-9883-446C-B2D7-D7FD1CB5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19350"/>
            <a:ext cx="76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0sa04">
            <a:extLst xmlns:a="http://schemas.openxmlformats.org/drawingml/2006/main">
              <a:ext uri="{FF2B5EF4-FFF2-40B4-BE49-F238E27FC236}">
                <a16:creationId xmlns:a16="http://schemas.microsoft.com/office/drawing/2014/main" id="{541E8128-606F-4FB9-9838-C869CAD2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81B"/>
                </a:solidFill>
              </a:defRPr>
            </a:pPr>
            <a:r>
              <a:rPr sz="1725" b="1">
                <a:solidFill>
                  <a:srgbClr val="17181B"/>
                </a:solidFill>
              </a:rPr>
              <a:t>Tela</a:t>
            </a:r>
          </a:p>
        </p:txBody>
      </p:sp>
      <p:sp>
        <p:nvSpPr>
          <p:cNvPr id="8" name="text-0efjie">
            <a:extLst xmlns:a="http://schemas.openxmlformats.org/drawingml/2006/main">
              <a:ext uri="{FF2B5EF4-FFF2-40B4-BE49-F238E27FC236}">
                <a16:creationId xmlns:a16="http://schemas.microsoft.com/office/drawing/2014/main" id="{A5C97A7D-6FA4-43F5-9CFD-4E814B21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12192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Valida nome,</a:t>
            </a:r>
          </a:p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preço e estoque</a:t>
            </a:r>
          </a:p>
        </p:txBody>
      </p:sp>
      <p:sp>
        <p:nvSpPr>
          <p:cNvPr id="9" name="shape-wueyyd">
            <a:extLst xmlns:a="http://schemas.openxmlformats.org/drawingml/2006/main">
              <a:ext uri="{FF2B5EF4-FFF2-40B4-BE49-F238E27FC236}">
                <a16:creationId xmlns:a16="http://schemas.microsoft.com/office/drawing/2014/main" id="{D9826670-AE28-4AD7-80D9-EF84A888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333750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4ndy8e">
            <a:extLst xmlns:a="http://schemas.openxmlformats.org/drawingml/2006/main">
              <a:ext uri="{FF2B5EF4-FFF2-40B4-BE49-F238E27FC236}">
                <a16:creationId xmlns:a16="http://schemas.microsoft.com/office/drawing/2014/main" id="{A7DE0722-BFA5-4BF1-910C-8CE802AA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0002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1" name="shape-jebrtc">
            <a:extLst xmlns:a="http://schemas.openxmlformats.org/drawingml/2006/main">
              <a:ext uri="{FF2B5EF4-FFF2-40B4-BE49-F238E27FC236}">
                <a16:creationId xmlns:a16="http://schemas.microsoft.com/office/drawing/2014/main" id="{7768E5E3-8296-4290-9C67-D8956E7A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19350"/>
            <a:ext cx="16192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12" name="shape-twe5ah">
            <a:extLst xmlns:a="http://schemas.openxmlformats.org/drawingml/2006/main">
              <a:ext uri="{FF2B5EF4-FFF2-40B4-BE49-F238E27FC236}">
                <a16:creationId xmlns:a16="http://schemas.microsoft.com/office/drawing/2014/main" id="{94A26345-2DFD-4EA6-A101-5D6701C1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19350"/>
            <a:ext cx="76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bg1c3g">
            <a:extLst xmlns:a="http://schemas.openxmlformats.org/drawingml/2006/main">
              <a:ext uri="{FF2B5EF4-FFF2-40B4-BE49-F238E27FC236}">
                <a16:creationId xmlns:a16="http://schemas.microsoft.com/office/drawing/2014/main" id="{C8F92357-E30B-4E75-99B9-F1ED8B06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5908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81B"/>
                </a:solidFill>
              </a:defRPr>
            </a:pPr>
            <a:r>
              <a:rPr sz="1725" b="1">
                <a:solidFill>
                  <a:srgbClr val="17181B"/>
                </a:solidFill>
              </a:rPr>
              <a:t>Cliente</a:t>
            </a:r>
          </a:p>
        </p:txBody>
      </p:sp>
      <p:sp>
        <p:nvSpPr>
          <p:cNvPr id="14" name="text-t7hw9e">
            <a:extLst xmlns:a="http://schemas.openxmlformats.org/drawingml/2006/main">
              <a:ext uri="{FF2B5EF4-FFF2-40B4-BE49-F238E27FC236}">
                <a16:creationId xmlns:a16="http://schemas.microsoft.com/office/drawing/2014/main" id="{4F73BF52-8F04-42A9-A7DB-44189335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952750"/>
            <a:ext cx="12192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Serializa JSON</a:t>
            </a:r>
          </a:p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e adiciona JWT</a:t>
            </a:r>
          </a:p>
        </p:txBody>
      </p:sp>
      <p:sp>
        <p:nvSpPr>
          <p:cNvPr id="15" name="shape-u9sfmt">
            <a:extLst xmlns:a="http://schemas.openxmlformats.org/drawingml/2006/main">
              <a:ext uri="{FF2B5EF4-FFF2-40B4-BE49-F238E27FC236}">
                <a16:creationId xmlns:a16="http://schemas.microsoft.com/office/drawing/2014/main" id="{00A160E1-A57C-4736-BE14-C77C6BDC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333750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p174n1">
            <a:extLst xmlns:a="http://schemas.openxmlformats.org/drawingml/2006/main">
              <a:ext uri="{FF2B5EF4-FFF2-40B4-BE49-F238E27FC236}">
                <a16:creationId xmlns:a16="http://schemas.microsoft.com/office/drawing/2014/main" id="{1D5B635D-780F-462F-B954-E9F5E09C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002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7" name="shape-t38fb0">
            <a:extLst xmlns:a="http://schemas.openxmlformats.org/drawingml/2006/main">
              <a:ext uri="{FF2B5EF4-FFF2-40B4-BE49-F238E27FC236}">
                <a16:creationId xmlns:a16="http://schemas.microsoft.com/office/drawing/2014/main" id="{0E744AF3-5BD5-4C9F-AEA9-92268C9D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19350"/>
            <a:ext cx="16192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F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18" name="shape-twnqwy">
            <a:extLst xmlns:a="http://schemas.openxmlformats.org/drawingml/2006/main">
              <a:ext uri="{FF2B5EF4-FFF2-40B4-BE49-F238E27FC236}">
                <a16:creationId xmlns:a16="http://schemas.microsoft.com/office/drawing/2014/main" id="{EE1811AF-71A4-47C1-825A-7985D50B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19350"/>
            <a:ext cx="76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zo5e24">
            <a:extLst xmlns:a="http://schemas.openxmlformats.org/drawingml/2006/main">
              <a:ext uri="{FF2B5EF4-FFF2-40B4-BE49-F238E27FC236}">
                <a16:creationId xmlns:a16="http://schemas.microsoft.com/office/drawing/2014/main" id="{ECDF6525-296A-4E57-A7B0-E31A31E3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908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81B"/>
                </a:solidFill>
              </a:defRPr>
            </a:pPr>
            <a:r>
              <a:rPr sz="1725" b="1">
                <a:solidFill>
                  <a:srgbClr val="17181B"/>
                </a:solidFill>
              </a:rPr>
              <a:t>Filtro</a:t>
            </a:r>
          </a:p>
        </p:txBody>
      </p:sp>
      <p:sp>
        <p:nvSpPr>
          <p:cNvPr id="20" name="text-juk90v">
            <a:extLst xmlns:a="http://schemas.openxmlformats.org/drawingml/2006/main">
              <a:ext uri="{FF2B5EF4-FFF2-40B4-BE49-F238E27FC236}">
                <a16:creationId xmlns:a16="http://schemas.microsoft.com/office/drawing/2014/main" id="{31041D3D-FEEA-4A26-8679-DA5654DC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12192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Valida token</a:t>
            </a:r>
          </a:p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e autentica</a:t>
            </a:r>
          </a:p>
        </p:txBody>
      </p:sp>
      <p:sp>
        <p:nvSpPr>
          <p:cNvPr id="21" name="shape-9nfn3f">
            <a:extLst xmlns:a="http://schemas.openxmlformats.org/drawingml/2006/main">
              <a:ext uri="{FF2B5EF4-FFF2-40B4-BE49-F238E27FC236}">
                <a16:creationId xmlns:a16="http://schemas.microsoft.com/office/drawing/2014/main" id="{18722EF5-DB0C-4761-B01D-8BE250EB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33750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5qrttl">
            <a:extLst xmlns:a="http://schemas.openxmlformats.org/drawingml/2006/main">
              <a:ext uri="{FF2B5EF4-FFF2-40B4-BE49-F238E27FC236}">
                <a16:creationId xmlns:a16="http://schemas.microsoft.com/office/drawing/2014/main" id="{527C27BE-D3AE-4686-A83E-A01D9909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002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23" name="shape-bdp25c">
            <a:extLst xmlns:a="http://schemas.openxmlformats.org/drawingml/2006/main">
              <a:ext uri="{FF2B5EF4-FFF2-40B4-BE49-F238E27FC236}">
                <a16:creationId xmlns:a16="http://schemas.microsoft.com/office/drawing/2014/main" id="{0A1667F9-095B-4B8B-848F-978F4465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19350"/>
            <a:ext cx="16192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24" name="shape-pubdfc">
            <a:extLst xmlns:a="http://schemas.openxmlformats.org/drawingml/2006/main">
              <a:ext uri="{FF2B5EF4-FFF2-40B4-BE49-F238E27FC236}">
                <a16:creationId xmlns:a16="http://schemas.microsoft.com/office/drawing/2014/main" id="{EA7AC28D-DD6C-4776-B616-0C691AD6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19350"/>
            <a:ext cx="76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630ip6">
            <a:extLst xmlns:a="http://schemas.openxmlformats.org/drawingml/2006/main">
              <a:ext uri="{FF2B5EF4-FFF2-40B4-BE49-F238E27FC236}">
                <a16:creationId xmlns:a16="http://schemas.microsoft.com/office/drawing/2014/main" id="{09D8722C-41BC-46AD-8289-8A8145BA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5908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81B"/>
                </a:solidFill>
              </a:defRPr>
            </a:pPr>
            <a:r>
              <a:rPr sz="1725" b="1">
                <a:solidFill>
                  <a:srgbClr val="17181B"/>
                </a:solidFill>
              </a:rPr>
              <a:t>Controller</a:t>
            </a:r>
          </a:p>
        </p:txBody>
      </p:sp>
      <p:sp>
        <p:nvSpPr>
          <p:cNvPr id="26" name="text-rcf285">
            <a:extLst xmlns:a="http://schemas.openxmlformats.org/drawingml/2006/main">
              <a:ext uri="{FF2B5EF4-FFF2-40B4-BE49-F238E27FC236}">
                <a16:creationId xmlns:a16="http://schemas.microsoft.com/office/drawing/2014/main" id="{FE9F740E-E930-48C3-8FB7-1414083C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52750"/>
            <a:ext cx="12192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Recebe POST</a:t>
            </a:r>
          </a:p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e delega</a:t>
            </a:r>
          </a:p>
        </p:txBody>
      </p:sp>
      <p:sp>
        <p:nvSpPr>
          <p:cNvPr id="27" name="shape-txuhkf">
            <a:extLst xmlns:a="http://schemas.openxmlformats.org/drawingml/2006/main">
              <a:ext uri="{FF2B5EF4-FFF2-40B4-BE49-F238E27FC236}">
                <a16:creationId xmlns:a16="http://schemas.microsoft.com/office/drawing/2014/main" id="{CB9A1FC0-57A0-4D6F-BDEB-ABDC0248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333750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v8ji4q">
            <a:extLst xmlns:a="http://schemas.openxmlformats.org/drawingml/2006/main">
              <a:ext uri="{FF2B5EF4-FFF2-40B4-BE49-F238E27FC236}">
                <a16:creationId xmlns:a16="http://schemas.microsoft.com/office/drawing/2014/main" id="{2951DF11-DA83-4070-8889-CF6BDB82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002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05</a:t>
            </a:r>
          </a:p>
        </p:txBody>
      </p:sp>
      <p:sp>
        <p:nvSpPr>
          <p:cNvPr id="29" name="shape-ylxnm6">
            <a:extLst xmlns:a="http://schemas.openxmlformats.org/drawingml/2006/main">
              <a:ext uri="{FF2B5EF4-FFF2-40B4-BE49-F238E27FC236}">
                <a16:creationId xmlns:a16="http://schemas.microsoft.com/office/drawing/2014/main" id="{9350FCD8-BA1D-4044-83F0-B240491A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19350"/>
            <a:ext cx="16192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F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30" name="shape-6slcjp">
            <a:extLst xmlns:a="http://schemas.openxmlformats.org/drawingml/2006/main">
              <a:ext uri="{FF2B5EF4-FFF2-40B4-BE49-F238E27FC236}">
                <a16:creationId xmlns:a16="http://schemas.microsoft.com/office/drawing/2014/main" id="{50491FCC-B5D8-4BF2-A62C-1AED5F4D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19350"/>
            <a:ext cx="76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oqr0in">
            <a:extLst xmlns:a="http://schemas.openxmlformats.org/drawingml/2006/main">
              <a:ext uri="{FF2B5EF4-FFF2-40B4-BE49-F238E27FC236}">
                <a16:creationId xmlns:a16="http://schemas.microsoft.com/office/drawing/2014/main" id="{94282272-02CB-4C84-AD70-AB78051F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908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81B"/>
                </a:solidFill>
              </a:defRPr>
            </a:pPr>
            <a:r>
              <a:rPr sz="1725" b="1">
                <a:solidFill>
                  <a:srgbClr val="17181B"/>
                </a:solidFill>
              </a:rPr>
              <a:t>Service</a:t>
            </a:r>
          </a:p>
        </p:txBody>
      </p:sp>
      <p:sp>
        <p:nvSpPr>
          <p:cNvPr id="32" name="text-1jbp6q">
            <a:extLst xmlns:a="http://schemas.openxmlformats.org/drawingml/2006/main">
              <a:ext uri="{FF2B5EF4-FFF2-40B4-BE49-F238E27FC236}">
                <a16:creationId xmlns:a16="http://schemas.microsoft.com/office/drawing/2014/main" id="{BB877E50-AC92-42EF-9E41-65FC5A6E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52750"/>
            <a:ext cx="12192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Transação e</a:t>
            </a:r>
          </a:p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regra de negócio</a:t>
            </a:r>
          </a:p>
        </p:txBody>
      </p:sp>
      <p:sp>
        <p:nvSpPr>
          <p:cNvPr id="33" name="shape-6jxgz2">
            <a:extLst xmlns:a="http://schemas.openxmlformats.org/drawingml/2006/main">
              <a:ext uri="{FF2B5EF4-FFF2-40B4-BE49-F238E27FC236}">
                <a16:creationId xmlns:a16="http://schemas.microsoft.com/office/drawing/2014/main" id="{5F420005-4BF6-45A4-9979-0B38E92F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33750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4pnm71">
            <a:extLst xmlns:a="http://schemas.openxmlformats.org/drawingml/2006/main">
              <a:ext uri="{FF2B5EF4-FFF2-40B4-BE49-F238E27FC236}">
                <a16:creationId xmlns:a16="http://schemas.microsoft.com/office/drawing/2014/main" id="{F81B40AB-A725-4509-B8CE-C4A4BFCB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0002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06</a:t>
            </a:r>
          </a:p>
        </p:txBody>
      </p:sp>
      <p:sp>
        <p:nvSpPr>
          <p:cNvPr id="35" name="shape-2wsied">
            <a:extLst xmlns:a="http://schemas.openxmlformats.org/drawingml/2006/main">
              <a:ext uri="{FF2B5EF4-FFF2-40B4-BE49-F238E27FC236}">
                <a16:creationId xmlns:a16="http://schemas.microsoft.com/office/drawing/2014/main" id="{37A0D270-B198-4574-A017-DD69AC35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419350"/>
            <a:ext cx="16192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36" name="shape-raq8ob">
            <a:extLst xmlns:a="http://schemas.openxmlformats.org/drawingml/2006/main">
              <a:ext uri="{FF2B5EF4-FFF2-40B4-BE49-F238E27FC236}">
                <a16:creationId xmlns:a16="http://schemas.microsoft.com/office/drawing/2014/main" id="{5C151370-55ED-4253-8D61-2C66F461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419350"/>
            <a:ext cx="76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-1c7rup">
            <a:extLst xmlns:a="http://schemas.openxmlformats.org/drawingml/2006/main">
              <a:ext uri="{FF2B5EF4-FFF2-40B4-BE49-F238E27FC236}">
                <a16:creationId xmlns:a16="http://schemas.microsoft.com/office/drawing/2014/main" id="{A40B5445-AE4E-4CD5-8DD9-E59638F3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5908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81B"/>
                </a:solidFill>
              </a:defRPr>
            </a:pPr>
            <a:r>
              <a:rPr sz="1725" b="1">
                <a:solidFill>
                  <a:srgbClr val="17181B"/>
                </a:solidFill>
              </a:rPr>
              <a:t>Repository</a:t>
            </a:r>
          </a:p>
        </p:txBody>
      </p:sp>
      <p:sp>
        <p:nvSpPr>
          <p:cNvPr id="38" name="text-82udbo">
            <a:extLst xmlns:a="http://schemas.openxmlformats.org/drawingml/2006/main">
              <a:ext uri="{FF2B5EF4-FFF2-40B4-BE49-F238E27FC236}">
                <a16:creationId xmlns:a16="http://schemas.microsoft.com/office/drawing/2014/main" id="{35E05AFE-E51D-48F4-ADE1-ECE00171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952750"/>
            <a:ext cx="12192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save() gera</a:t>
            </a:r>
          </a:p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INSERT no H2</a:t>
            </a:r>
          </a:p>
        </p:txBody>
      </p:sp>
      <p:sp>
        <p:nvSpPr>
          <p:cNvPr id="39" name="shape-wsepen">
            <a:extLst xmlns:a="http://schemas.openxmlformats.org/drawingml/2006/main">
              <a:ext uri="{FF2B5EF4-FFF2-40B4-BE49-F238E27FC236}">
                <a16:creationId xmlns:a16="http://schemas.microsoft.com/office/drawing/2014/main" id="{738799A1-EF78-4195-8719-3772DD73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48250"/>
            <a:ext cx="11372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ext-e0rgrl">
            <a:extLst xmlns:a="http://schemas.openxmlformats.org/drawingml/2006/main">
              <a:ext uri="{FF2B5EF4-FFF2-40B4-BE49-F238E27FC236}">
                <a16:creationId xmlns:a16="http://schemas.microsoft.com/office/drawing/2014/main" id="{F95D1197-94B2-4663-8B87-94592BA0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Resposta: 201 Created + produto JSON com ID gerado pelo banco</a:t>
            </a:r>
          </a:p>
        </p:txBody>
      </p:sp>
    </p:spTree>
    <p:extLst>
      <p:ext uri="{BB962C8B-B14F-4D97-AF65-F5344CB8AC3E}">
        <p14:creationId xmlns:p14="http://schemas.microsoft.com/office/powerpoint/2010/main" val="1641861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413691-7171-4694-AE0E-66DF68AA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81B"/>
                </a:solidFill>
              </a:defRPr>
            </a:pPr>
            <a:r>
              <a:rPr sz="3000" b="1">
                <a:solidFill>
                  <a:srgbClr val="17181B"/>
                </a:solidFill>
              </a:rPr>
              <a:t>Swing: LoginScreen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A0CDEFC-CFB9-415B-A99D-5F820582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5F66"/>
                </a:solidFill>
              </a:defRPr>
            </a:pPr>
            <a:r>
              <a:rPr sz="1125" b="0">
                <a:solidFill>
                  <a:srgbClr val="5B5F66"/>
                </a:solidFill>
              </a:rPr>
              <a:t>11</a:t>
            </a:r>
          </a:p>
        </p:txBody>
      </p:sp>
      <p:sp>
        <p:nvSpPr>
          <p:cNvPr id="3" name="shape-9xlnmn">
            <a:extLst xmlns:a="http://schemas.openxmlformats.org/drawingml/2006/main">
              <a:ext uri="{FF2B5EF4-FFF2-40B4-BE49-F238E27FC236}">
                <a16:creationId xmlns:a16="http://schemas.microsoft.com/office/drawing/2014/main" id="{2A03C59C-976C-4863-BEBA-1287A718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s28fxg">
            <a:extLst xmlns:a="http://schemas.openxmlformats.org/drawingml/2006/main">
              <a:ext uri="{FF2B5EF4-FFF2-40B4-BE49-F238E27FC236}">
                <a16:creationId xmlns:a16="http://schemas.microsoft.com/office/drawing/2014/main" id="{3C201149-17A2-4DDF-B72E-800422C1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09750"/>
            <a:ext cx="4953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7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5" name="shape-hvcmeh">
            <a:extLst xmlns:a="http://schemas.openxmlformats.org/drawingml/2006/main">
              <a:ext uri="{FF2B5EF4-FFF2-40B4-BE49-F238E27FC236}">
                <a16:creationId xmlns:a16="http://schemas.microsoft.com/office/drawing/2014/main" id="{33133E1A-6913-4084-806D-32D9570B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0975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ysg9t2">
            <a:extLst xmlns:a="http://schemas.openxmlformats.org/drawingml/2006/main">
              <a:ext uri="{FF2B5EF4-FFF2-40B4-BE49-F238E27FC236}">
                <a16:creationId xmlns:a16="http://schemas.microsoft.com/office/drawing/2014/main" id="{3BC34A45-C2BF-4999-84CB-0820FE69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Inventário - Acesso</a:t>
            </a:r>
          </a:p>
        </p:txBody>
      </p:sp>
      <p:sp>
        <p:nvSpPr>
          <p:cNvPr id="7" name="shape-o0r2gj">
            <a:extLst xmlns:a="http://schemas.openxmlformats.org/drawingml/2006/main">
              <a:ext uri="{FF2B5EF4-FFF2-40B4-BE49-F238E27FC236}">
                <a16:creationId xmlns:a16="http://schemas.microsoft.com/office/drawing/2014/main" id="{26F152AE-CB0A-4564-A961-21B2243A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56c79s">
            <a:extLst xmlns:a="http://schemas.openxmlformats.org/drawingml/2006/main">
              <a:ext uri="{FF2B5EF4-FFF2-40B4-BE49-F238E27FC236}">
                <a16:creationId xmlns:a16="http://schemas.microsoft.com/office/drawing/2014/main" id="{6147E366-631A-422A-8120-A24B1933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812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Entrar</a:t>
            </a:r>
          </a:p>
        </p:txBody>
      </p:sp>
      <p:sp>
        <p:nvSpPr>
          <p:cNvPr id="9" name="shape-ucqsrk">
            <a:extLst xmlns:a="http://schemas.openxmlformats.org/drawingml/2006/main">
              <a:ext uri="{FF2B5EF4-FFF2-40B4-BE49-F238E27FC236}">
                <a16:creationId xmlns:a16="http://schemas.microsoft.com/office/drawing/2014/main" id="{856CDCD3-6410-46CC-B9B4-A8AACDEB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5146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o7zvwa">
            <a:extLst xmlns:a="http://schemas.openxmlformats.org/drawingml/2006/main">
              <a:ext uri="{FF2B5EF4-FFF2-40B4-BE49-F238E27FC236}">
                <a16:creationId xmlns:a16="http://schemas.microsoft.com/office/drawing/2014/main" id="{B3F41BFC-EFC0-4D43-B126-377DF63F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812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B5F66"/>
                </a:solidFill>
              </a:defRPr>
            </a:pPr>
            <a:r>
              <a:rPr sz="1125" b="1">
                <a:solidFill>
                  <a:srgbClr val="5B5F66"/>
                </a:solidFill>
              </a:rPr>
              <a:t>Criar conta</a:t>
            </a:r>
          </a:p>
        </p:txBody>
      </p:sp>
      <p:sp>
        <p:nvSpPr>
          <p:cNvPr id="11" name="text-t2vsee">
            <a:extLst xmlns:a="http://schemas.openxmlformats.org/drawingml/2006/main">
              <a:ext uri="{FF2B5EF4-FFF2-40B4-BE49-F238E27FC236}">
                <a16:creationId xmlns:a16="http://schemas.microsoft.com/office/drawing/2014/main" id="{103653B8-D607-4337-B269-586EFCB3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81B"/>
                </a:solidFill>
              </a:defRPr>
            </a:pPr>
            <a:r>
              <a:rPr sz="1275" b="1">
                <a:solidFill>
                  <a:srgbClr val="17181B"/>
                </a:solidFill>
              </a:rPr>
              <a:t>Usuário</a:t>
            </a:r>
          </a:p>
        </p:txBody>
      </p:sp>
      <p:sp>
        <p:nvSpPr>
          <p:cNvPr id="12" name="shape-o6ka31">
            <a:extLst xmlns:a="http://schemas.openxmlformats.org/drawingml/2006/main">
              <a:ext uri="{FF2B5EF4-FFF2-40B4-BE49-F238E27FC236}">
                <a16:creationId xmlns:a16="http://schemas.microsoft.com/office/drawing/2014/main" id="{F0FE8C71-DA7A-4E06-BD91-538FCEFA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05150"/>
            <a:ext cx="2762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13" name="text-yskcto">
            <a:extLst xmlns:a="http://schemas.openxmlformats.org/drawingml/2006/main">
              <a:ext uri="{FF2B5EF4-FFF2-40B4-BE49-F238E27FC236}">
                <a16:creationId xmlns:a16="http://schemas.microsoft.com/office/drawing/2014/main" id="{9A6DFF1F-F343-4180-AA05-53166FBA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81B"/>
                </a:solidFill>
              </a:defRPr>
            </a:pPr>
            <a:r>
              <a:rPr sz="1275" b="1">
                <a:solidFill>
                  <a:srgbClr val="17181B"/>
                </a:solidFill>
              </a:rPr>
              <a:t>Senha</a:t>
            </a:r>
          </a:p>
        </p:txBody>
      </p:sp>
      <p:sp>
        <p:nvSpPr>
          <p:cNvPr id="14" name="shape-0bnmb8">
            <a:extLst xmlns:a="http://schemas.openxmlformats.org/drawingml/2006/main">
              <a:ext uri="{FF2B5EF4-FFF2-40B4-BE49-F238E27FC236}">
                <a16:creationId xmlns:a16="http://schemas.microsoft.com/office/drawing/2014/main" id="{3C9B819F-F526-48A3-AC49-4B07BAAD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695700"/>
            <a:ext cx="2762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15" name="shape-ereqar">
            <a:extLst xmlns:a="http://schemas.openxmlformats.org/drawingml/2006/main">
              <a:ext uri="{FF2B5EF4-FFF2-40B4-BE49-F238E27FC236}">
                <a16:creationId xmlns:a16="http://schemas.microsoft.com/office/drawing/2014/main" id="{8A8A3962-41AC-4F85-814D-563BBC55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38650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1son14">
            <a:extLst xmlns:a="http://schemas.openxmlformats.org/drawingml/2006/main">
              <a:ext uri="{FF2B5EF4-FFF2-40B4-BE49-F238E27FC236}">
                <a16:creationId xmlns:a16="http://schemas.microsoft.com/office/drawing/2014/main" id="{DCB63555-8D92-46EA-AEF6-34B5304C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52950"/>
            <a:ext cx="253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ENTRAR</a:t>
            </a:r>
          </a:p>
        </p:txBody>
      </p:sp>
      <p:sp>
        <p:nvSpPr>
          <p:cNvPr id="17" name="text-mshnw0">
            <a:extLst xmlns:a="http://schemas.openxmlformats.org/drawingml/2006/main">
              <a:ext uri="{FF2B5EF4-FFF2-40B4-BE49-F238E27FC236}">
                <a16:creationId xmlns:a16="http://schemas.microsoft.com/office/drawing/2014/main" id="{074457AA-1A8C-4C53-B2E6-524DFA59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FUNCIONAMENTO</a:t>
            </a:r>
          </a:p>
        </p:txBody>
      </p:sp>
      <p:sp>
        <p:nvSpPr>
          <p:cNvPr id="18" name="shape-1k0vf6">
            <a:extLst xmlns:a="http://schemas.openxmlformats.org/drawingml/2006/main">
              <a:ext uri="{FF2B5EF4-FFF2-40B4-BE49-F238E27FC236}">
                <a16:creationId xmlns:a16="http://schemas.microsoft.com/office/drawing/2014/main" id="{D3DA6094-8431-4E7A-814A-0A24C3A0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43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yy707a">
            <a:extLst xmlns:a="http://schemas.openxmlformats.org/drawingml/2006/main">
              <a:ext uri="{FF2B5EF4-FFF2-40B4-BE49-F238E27FC236}">
                <a16:creationId xmlns:a16="http://schemas.microsoft.com/office/drawing/2014/main" id="{2F5F46F5-6D0B-4C37-9075-849B56B9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81B"/>
                </a:solidFill>
              </a:defRPr>
            </a:pPr>
            <a:r>
              <a:rPr sz="1500" b="0">
                <a:solidFill>
                  <a:srgbClr val="17181B"/>
                </a:solidFill>
              </a:rPr>
              <a:t>Duas abas: login e registro</a:t>
            </a:r>
          </a:p>
        </p:txBody>
      </p:sp>
      <p:sp>
        <p:nvSpPr>
          <p:cNvPr id="20" name="shape-a2yui1">
            <a:extLst xmlns:a="http://schemas.openxmlformats.org/drawingml/2006/main">
              <a:ext uri="{FF2B5EF4-FFF2-40B4-BE49-F238E27FC236}">
                <a16:creationId xmlns:a16="http://schemas.microsoft.com/office/drawing/2014/main" id="{44BC323A-DDFF-480D-9599-01999753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95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v1fzh6">
            <a:extLst xmlns:a="http://schemas.openxmlformats.org/drawingml/2006/main">
              <a:ext uri="{FF2B5EF4-FFF2-40B4-BE49-F238E27FC236}">
                <a16:creationId xmlns:a16="http://schemas.microsoft.com/office/drawing/2014/main" id="{20523633-8427-4CB8-86F3-DF43E74B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28950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81B"/>
                </a:solidFill>
              </a:defRPr>
            </a:pPr>
            <a:r>
              <a:rPr sz="1500" b="0">
                <a:solidFill>
                  <a:srgbClr val="17181B"/>
                </a:solidFill>
              </a:rPr>
              <a:t>Cria um InventarioApiClient</a:t>
            </a:r>
          </a:p>
        </p:txBody>
      </p:sp>
      <p:sp>
        <p:nvSpPr>
          <p:cNvPr id="22" name="shape-6n98o3">
            <a:extLst xmlns:a="http://schemas.openxmlformats.org/drawingml/2006/main">
              <a:ext uri="{FF2B5EF4-FFF2-40B4-BE49-F238E27FC236}">
                <a16:creationId xmlns:a16="http://schemas.microsoft.com/office/drawing/2014/main" id="{4E3E961A-AD60-431C-8016-0DCCF6E2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8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hfp58b">
            <a:extLst xmlns:a="http://schemas.openxmlformats.org/drawingml/2006/main">
              <a:ext uri="{FF2B5EF4-FFF2-40B4-BE49-F238E27FC236}">
                <a16:creationId xmlns:a16="http://schemas.microsoft.com/office/drawing/2014/main" id="{8A99E8B6-C4C1-4ACD-97A3-C422EC75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81400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81B"/>
                </a:solidFill>
              </a:defRPr>
            </a:pPr>
            <a:r>
              <a:rPr sz="1500" b="0">
                <a:solidFill>
                  <a:srgbClr val="17181B"/>
                </a:solidFill>
              </a:rPr>
              <a:t>SwingWorker executa HTTP fora da EDT</a:t>
            </a:r>
          </a:p>
        </p:txBody>
      </p:sp>
      <p:sp>
        <p:nvSpPr>
          <p:cNvPr id="24" name="shape-7ecmt2">
            <a:extLst xmlns:a="http://schemas.openxmlformats.org/drawingml/2006/main">
              <a:ext uri="{FF2B5EF4-FFF2-40B4-BE49-F238E27FC236}">
                <a16:creationId xmlns:a16="http://schemas.microsoft.com/office/drawing/2014/main" id="{02CC8133-AF18-4340-9645-4EF97864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00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yzkkal">
            <a:extLst xmlns:a="http://schemas.openxmlformats.org/drawingml/2006/main">
              <a:ext uri="{FF2B5EF4-FFF2-40B4-BE49-F238E27FC236}">
                <a16:creationId xmlns:a16="http://schemas.microsoft.com/office/drawing/2014/main" id="{4A78DC94-3E5B-42A4-8106-43C5F8D1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33850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81B"/>
                </a:solidFill>
              </a:defRPr>
            </a:pPr>
            <a:r>
              <a:rPr sz="1500" b="0">
                <a:solidFill>
                  <a:srgbClr val="17181B"/>
                </a:solidFill>
              </a:rPr>
              <a:t>Token permanece na mesma instância</a:t>
            </a:r>
          </a:p>
        </p:txBody>
      </p:sp>
      <p:sp>
        <p:nvSpPr>
          <p:cNvPr id="26" name="shape-5slaa6">
            <a:extLst xmlns:a="http://schemas.openxmlformats.org/drawingml/2006/main">
              <a:ext uri="{FF2B5EF4-FFF2-40B4-BE49-F238E27FC236}">
                <a16:creationId xmlns:a16="http://schemas.microsoft.com/office/drawing/2014/main" id="{70EF3AE9-9C1E-4659-ADA0-28C924FE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52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hjuqqf">
            <a:extLst xmlns:a="http://schemas.openxmlformats.org/drawingml/2006/main">
              <a:ext uri="{FF2B5EF4-FFF2-40B4-BE49-F238E27FC236}">
                <a16:creationId xmlns:a16="http://schemas.microsoft.com/office/drawing/2014/main" id="{C3493414-F0F3-4CA3-A1BC-512DC6A6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86300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81B"/>
                </a:solidFill>
              </a:defRPr>
            </a:pPr>
            <a:r>
              <a:rPr sz="1500" b="0">
                <a:solidFill>
                  <a:srgbClr val="17181B"/>
                </a:solidFill>
              </a:rPr>
              <a:t>Sucesso abre ProdutoScreen</a:t>
            </a:r>
          </a:p>
        </p:txBody>
      </p:sp>
    </p:spTree>
    <p:extLst>
      <p:ext uri="{BB962C8B-B14F-4D97-AF65-F5344CB8AC3E}">
        <p14:creationId xmlns:p14="http://schemas.microsoft.com/office/powerpoint/2010/main" val="15195553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F8CE16-38D3-4888-903C-6D3262D8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81B"/>
                </a:solidFill>
              </a:defRPr>
            </a:pPr>
            <a:r>
              <a:rPr sz="3000" b="1">
                <a:solidFill>
                  <a:srgbClr val="17181B"/>
                </a:solidFill>
              </a:rPr>
              <a:t>Swing: ProdutoScreen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F43F256-176F-4EC4-A427-C16BFEFA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5F66"/>
                </a:solidFill>
              </a:defRPr>
            </a:pPr>
            <a:r>
              <a:rPr sz="1125" b="0">
                <a:solidFill>
                  <a:srgbClr val="5B5F66"/>
                </a:solidFill>
              </a:rPr>
              <a:t>12</a:t>
            </a:r>
          </a:p>
        </p:txBody>
      </p:sp>
      <p:sp>
        <p:nvSpPr>
          <p:cNvPr id="3" name="shape-xuf0vb">
            <a:extLst xmlns:a="http://schemas.openxmlformats.org/drawingml/2006/main">
              <a:ext uri="{FF2B5EF4-FFF2-40B4-BE49-F238E27FC236}">
                <a16:creationId xmlns:a16="http://schemas.microsoft.com/office/drawing/2014/main" id="{E053C0EB-E210-4D8D-9B39-FBC02EF4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6dvbn9">
            <a:extLst xmlns:a="http://schemas.openxmlformats.org/drawingml/2006/main">
              <a:ext uri="{FF2B5EF4-FFF2-40B4-BE49-F238E27FC236}">
                <a16:creationId xmlns:a16="http://schemas.microsoft.com/office/drawing/2014/main" id="{91D16AE0-3C76-431F-AA77-F87C77C7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62125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5" name="shape-xxdqd2">
            <a:extLst xmlns:a="http://schemas.openxmlformats.org/drawingml/2006/main">
              <a:ext uri="{FF2B5EF4-FFF2-40B4-BE49-F238E27FC236}">
                <a16:creationId xmlns:a16="http://schemas.microsoft.com/office/drawing/2014/main" id="{B52EA825-13E5-46A3-B5EE-FC8EFA52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62125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bopo2v">
            <a:extLst xmlns:a="http://schemas.openxmlformats.org/drawingml/2006/main">
              <a:ext uri="{FF2B5EF4-FFF2-40B4-BE49-F238E27FC236}">
                <a16:creationId xmlns:a16="http://schemas.microsoft.com/office/drawing/2014/main" id="{E27256DE-E7C1-4FE3-8E43-51287782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Inventário - usuário autenticado</a:t>
            </a:r>
          </a:p>
        </p:txBody>
      </p:sp>
      <p:sp>
        <p:nvSpPr>
          <p:cNvPr id="7" name="shape-tf4s96">
            <a:extLst xmlns:a="http://schemas.openxmlformats.org/drawingml/2006/main">
              <a:ext uri="{FF2B5EF4-FFF2-40B4-BE49-F238E27FC236}">
                <a16:creationId xmlns:a16="http://schemas.microsoft.com/office/drawing/2014/main" id="{2F50E1CC-AF84-4358-B781-E5CD1B50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828800"/>
            <a:ext cx="914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h646b7">
            <a:extLst xmlns:a="http://schemas.openxmlformats.org/drawingml/2006/main">
              <a:ext uri="{FF2B5EF4-FFF2-40B4-BE49-F238E27FC236}">
                <a16:creationId xmlns:a16="http://schemas.microsoft.com/office/drawing/2014/main" id="{F65DD547-3D84-4900-9CED-C45E62B5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9547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0B0D"/>
                </a:solidFill>
              </a:defRPr>
            </a:pPr>
            <a:r>
              <a:rPr sz="1125" b="1">
                <a:solidFill>
                  <a:srgbClr val="0B0B0D"/>
                </a:solidFill>
              </a:rPr>
              <a:t>Atualizar</a:t>
            </a:r>
          </a:p>
        </p:txBody>
      </p:sp>
      <p:sp>
        <p:nvSpPr>
          <p:cNvPr id="9" name="shape-xjcfgq">
            <a:extLst xmlns:a="http://schemas.openxmlformats.org/drawingml/2006/main">
              <a:ext uri="{FF2B5EF4-FFF2-40B4-BE49-F238E27FC236}">
                <a16:creationId xmlns:a16="http://schemas.microsoft.com/office/drawing/2014/main" id="{C28008BA-417B-466F-BE95-6E092C38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28800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gtnpaa">
            <a:extLst xmlns:a="http://schemas.openxmlformats.org/drawingml/2006/main">
              <a:ext uri="{FF2B5EF4-FFF2-40B4-BE49-F238E27FC236}">
                <a16:creationId xmlns:a16="http://schemas.microsoft.com/office/drawing/2014/main" id="{D55B5103-53DC-4231-913C-71F390FB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954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73535"/>
                </a:solidFill>
              </a:defRPr>
            </a:pPr>
            <a:r>
              <a:rPr sz="1125" b="1">
                <a:solidFill>
                  <a:srgbClr val="A73535"/>
                </a:solidFill>
              </a:rPr>
              <a:t>Sair</a:t>
            </a:r>
          </a:p>
        </p:txBody>
      </p:sp>
      <p:graphicFrame>
        <p:nvGraphicFramePr>
          <p:cNvPr id="47" name=""/>
          <p:cNvGraphicFramePr/>
          <p:nvPr/>
        </p:nvGraphicFramePr>
        <p:xfrm>
          <a:off xmlns:a="http://schemas.openxmlformats.org/drawingml/2006/main" x="647700" y="2476500"/>
          <a:ext xmlns:a="http://schemas.openxmlformats.org/drawingml/2006/main" cx="6762750" cy="1428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66750"/>
                <a:gridCol w="2571750"/>
                <a:gridCol w="1809750"/>
                <a:gridCol w="1714500"/>
              </a:tblGrid>
              <a:tr h="357188">
                <a:tc>
                  <a:txBody>
                    <a:bodyPr/>
                    <a:lstStyle/>
                    <a:p>
                      <a:r>
                        <a:t>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Preço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Estoque</a:t>
                      </a:r>
                    </a:p>
                  </a:txBody>
                  <a:tcPr marL="91440" marR="91440" marT="45720" marB="45720"/>
                </a:tc>
              </a:tr>
              <a:tr h="357188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Teclado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R$ 249,90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/>
                </a:tc>
              </a:tr>
              <a:tr h="357188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Mouse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R$ 129,90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/>
                </a:tc>
              </a:tr>
              <a:tr h="357188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Monitor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R$ 899,00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2" name="text-30rtwm">
            <a:extLst xmlns:a="http://schemas.openxmlformats.org/drawingml/2006/main">
              <a:ext uri="{FF2B5EF4-FFF2-40B4-BE49-F238E27FC236}">
                <a16:creationId xmlns:a16="http://schemas.microsoft.com/office/drawing/2014/main" id="{89658969-6072-4C1A-8A37-C2E4B323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81B"/>
                </a:solidFill>
              </a:defRPr>
            </a:pPr>
            <a:r>
              <a:rPr sz="1125" b="1">
                <a:solidFill>
                  <a:srgbClr val="17181B"/>
                </a:solidFill>
              </a:rPr>
              <a:t>Nome</a:t>
            </a:r>
          </a:p>
        </p:txBody>
      </p:sp>
      <p:sp>
        <p:nvSpPr>
          <p:cNvPr id="13" name="text-zajb3i">
            <a:extLst xmlns:a="http://schemas.openxmlformats.org/drawingml/2006/main">
              <a:ext uri="{FF2B5EF4-FFF2-40B4-BE49-F238E27FC236}">
                <a16:creationId xmlns:a16="http://schemas.microsoft.com/office/drawing/2014/main" id="{E7C2B871-996A-4A06-B902-530A6C91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1910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81B"/>
                </a:solidFill>
              </a:defRPr>
            </a:pPr>
            <a:r>
              <a:rPr sz="1125" b="1">
                <a:solidFill>
                  <a:srgbClr val="17181B"/>
                </a:solidFill>
              </a:rPr>
              <a:t>Descrição</a:t>
            </a:r>
          </a:p>
        </p:txBody>
      </p:sp>
      <p:sp>
        <p:nvSpPr>
          <p:cNvPr id="14" name="text-31x52i">
            <a:extLst xmlns:a="http://schemas.openxmlformats.org/drawingml/2006/main">
              <a:ext uri="{FF2B5EF4-FFF2-40B4-BE49-F238E27FC236}">
                <a16:creationId xmlns:a16="http://schemas.microsoft.com/office/drawing/2014/main" id="{36627D79-589A-467C-8616-0E1033A9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91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81B"/>
                </a:solidFill>
              </a:defRPr>
            </a:pPr>
            <a:r>
              <a:rPr sz="1125" b="1">
                <a:solidFill>
                  <a:srgbClr val="17181B"/>
                </a:solidFill>
              </a:rPr>
              <a:t>Preço</a:t>
            </a:r>
          </a:p>
        </p:txBody>
      </p:sp>
      <p:sp>
        <p:nvSpPr>
          <p:cNvPr id="15" name="text-zkm84o">
            <a:extLst xmlns:a="http://schemas.openxmlformats.org/drawingml/2006/main">
              <a:ext uri="{FF2B5EF4-FFF2-40B4-BE49-F238E27FC236}">
                <a16:creationId xmlns:a16="http://schemas.microsoft.com/office/drawing/2014/main" id="{63909B3D-2F1A-4D4A-8DBD-57D51057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1910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81B"/>
                </a:solidFill>
              </a:defRPr>
            </a:pPr>
            <a:r>
              <a:rPr sz="1125" b="1">
                <a:solidFill>
                  <a:srgbClr val="17181B"/>
                </a:solidFill>
              </a:rPr>
              <a:t>Quantidade</a:t>
            </a:r>
          </a:p>
        </p:txBody>
      </p:sp>
      <p:sp>
        <p:nvSpPr>
          <p:cNvPr id="16" name="shape-cofoiw">
            <a:extLst xmlns:a="http://schemas.openxmlformats.org/drawingml/2006/main">
              <a:ext uri="{FF2B5EF4-FFF2-40B4-BE49-F238E27FC236}">
                <a16:creationId xmlns:a16="http://schemas.microsoft.com/office/drawing/2014/main" id="{848BF914-BADE-4EA0-9278-2F37C5EB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476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17" name="shape-txdlbl">
            <a:extLst xmlns:a="http://schemas.openxmlformats.org/drawingml/2006/main">
              <a:ext uri="{FF2B5EF4-FFF2-40B4-BE49-F238E27FC236}">
                <a16:creationId xmlns:a16="http://schemas.microsoft.com/office/drawing/2014/main" id="{7D4C8875-E52C-47B8-8DD0-D17C179D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76750"/>
            <a:ext cx="1666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18" name="shape-dnkyy4">
            <a:extLst xmlns:a="http://schemas.openxmlformats.org/drawingml/2006/main">
              <a:ext uri="{FF2B5EF4-FFF2-40B4-BE49-F238E27FC236}">
                <a16:creationId xmlns:a16="http://schemas.microsoft.com/office/drawing/2014/main" id="{37D92CAE-E9DF-4CEA-B769-777A345F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767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19" name="shape-u43fj4">
            <a:extLst xmlns:a="http://schemas.openxmlformats.org/drawingml/2006/main">
              <a:ext uri="{FF2B5EF4-FFF2-40B4-BE49-F238E27FC236}">
                <a16:creationId xmlns:a16="http://schemas.microsoft.com/office/drawing/2014/main" id="{F453298D-A385-48D1-8B0D-C9BC7ABC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4767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20" name="shape-hma5pf">
            <a:extLst xmlns:a="http://schemas.openxmlformats.org/drawingml/2006/main">
              <a:ext uri="{FF2B5EF4-FFF2-40B4-BE49-F238E27FC236}">
                <a16:creationId xmlns:a16="http://schemas.microsoft.com/office/drawing/2014/main" id="{A892D810-4DF1-4865-A734-8110C665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62550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pms0h2">
            <a:extLst xmlns:a="http://schemas.openxmlformats.org/drawingml/2006/main">
              <a:ext uri="{FF2B5EF4-FFF2-40B4-BE49-F238E27FC236}">
                <a16:creationId xmlns:a16="http://schemas.microsoft.com/office/drawing/2014/main" id="{8DAA4FC6-6929-45D7-89B5-93692D1E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2292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0B0D"/>
                </a:solidFill>
              </a:defRPr>
            </a:pPr>
            <a:r>
              <a:rPr sz="1125" b="1">
                <a:solidFill>
                  <a:srgbClr val="0B0B0D"/>
                </a:solidFill>
              </a:rPr>
              <a:t>Novo</a:t>
            </a:r>
          </a:p>
        </p:txBody>
      </p:sp>
      <p:sp>
        <p:nvSpPr>
          <p:cNvPr id="22" name="shape-tck9tv">
            <a:extLst xmlns:a="http://schemas.openxmlformats.org/drawingml/2006/main">
              <a:ext uri="{FF2B5EF4-FFF2-40B4-BE49-F238E27FC236}">
                <a16:creationId xmlns:a16="http://schemas.microsoft.com/office/drawing/2014/main" id="{AF72682B-9CA6-4C26-B4C9-BD37BAFE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6255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mmcmry">
            <a:extLst xmlns:a="http://schemas.openxmlformats.org/drawingml/2006/main">
              <a:ext uri="{FF2B5EF4-FFF2-40B4-BE49-F238E27FC236}">
                <a16:creationId xmlns:a16="http://schemas.microsoft.com/office/drawing/2014/main" id="{66E4AEC5-2FF0-4F2A-9AA8-DEF21419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22922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73535"/>
                </a:solidFill>
              </a:defRPr>
            </a:pPr>
            <a:r>
              <a:rPr sz="1125" b="1">
                <a:solidFill>
                  <a:srgbClr val="A73535"/>
                </a:solidFill>
              </a:rPr>
              <a:t>Excluir</a:t>
            </a:r>
          </a:p>
        </p:txBody>
      </p:sp>
      <p:sp>
        <p:nvSpPr>
          <p:cNvPr id="24" name="shape-p7f2av">
            <a:extLst xmlns:a="http://schemas.openxmlformats.org/drawingml/2006/main">
              <a:ext uri="{FF2B5EF4-FFF2-40B4-BE49-F238E27FC236}">
                <a16:creationId xmlns:a16="http://schemas.microsoft.com/office/drawing/2014/main" id="{BE366928-84A2-4A27-AB53-217CD4D7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6255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4spe35">
            <a:extLst xmlns:a="http://schemas.openxmlformats.org/drawingml/2006/main">
              <a:ext uri="{FF2B5EF4-FFF2-40B4-BE49-F238E27FC236}">
                <a16:creationId xmlns:a16="http://schemas.microsoft.com/office/drawing/2014/main" id="{7F219361-8C1D-4782-BE3E-61B278CE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2922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Salvar</a:t>
            </a:r>
          </a:p>
        </p:txBody>
      </p:sp>
      <p:sp>
        <p:nvSpPr>
          <p:cNvPr id="26" name="text-fum6nu">
            <a:extLst xmlns:a="http://schemas.openxmlformats.org/drawingml/2006/main">
              <a:ext uri="{FF2B5EF4-FFF2-40B4-BE49-F238E27FC236}">
                <a16:creationId xmlns:a16="http://schemas.microsoft.com/office/drawing/2014/main" id="{1D37F30F-F4FB-4EBF-915A-53448B46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OPERAÇÕES REAIS</a:t>
            </a:r>
          </a:p>
        </p:txBody>
      </p:sp>
      <p:sp>
        <p:nvSpPr>
          <p:cNvPr id="27" name="shape-jc51c6">
            <a:extLst xmlns:a="http://schemas.openxmlformats.org/drawingml/2006/main">
              <a:ext uri="{FF2B5EF4-FFF2-40B4-BE49-F238E27FC236}">
                <a16:creationId xmlns:a16="http://schemas.microsoft.com/office/drawing/2014/main" id="{332974FC-1ABA-4B8C-8FC2-672CB41D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38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ufyalz">
            <a:extLst xmlns:a="http://schemas.openxmlformats.org/drawingml/2006/main">
              <a:ext uri="{FF2B5EF4-FFF2-40B4-BE49-F238E27FC236}">
                <a16:creationId xmlns:a16="http://schemas.microsoft.com/office/drawing/2014/main" id="{E1AE0D62-EF62-4ABD-9A86-7671EE91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71750"/>
            <a:ext cx="300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81B"/>
                </a:solidFill>
              </a:defRPr>
            </a:pPr>
            <a:r>
              <a:rPr sz="1575" b="0">
                <a:solidFill>
                  <a:srgbClr val="17181B"/>
                </a:solidFill>
              </a:rPr>
              <a:t>GET lista</a:t>
            </a:r>
          </a:p>
        </p:txBody>
      </p:sp>
      <p:sp>
        <p:nvSpPr>
          <p:cNvPr id="29" name="shape-zx6der">
            <a:extLst xmlns:a="http://schemas.openxmlformats.org/drawingml/2006/main">
              <a:ext uri="{FF2B5EF4-FFF2-40B4-BE49-F238E27FC236}">
                <a16:creationId xmlns:a16="http://schemas.microsoft.com/office/drawing/2014/main" id="{D62A9197-E8A0-4576-84FC-5941A76B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90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6lrkk1">
            <a:extLst xmlns:a="http://schemas.openxmlformats.org/drawingml/2006/main">
              <a:ext uri="{FF2B5EF4-FFF2-40B4-BE49-F238E27FC236}">
                <a16:creationId xmlns:a16="http://schemas.microsoft.com/office/drawing/2014/main" id="{BD99A5F9-E146-47DB-8476-CB0C6110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24200"/>
            <a:ext cx="300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81B"/>
                </a:solidFill>
              </a:defRPr>
            </a:pPr>
            <a:r>
              <a:rPr sz="1575" b="0">
                <a:solidFill>
                  <a:srgbClr val="17181B"/>
                </a:solidFill>
              </a:rPr>
              <a:t>POST cria</a:t>
            </a:r>
          </a:p>
        </p:txBody>
      </p:sp>
      <p:sp>
        <p:nvSpPr>
          <p:cNvPr id="31" name="shape-ksgub3">
            <a:extLst xmlns:a="http://schemas.openxmlformats.org/drawingml/2006/main">
              <a:ext uri="{FF2B5EF4-FFF2-40B4-BE49-F238E27FC236}">
                <a16:creationId xmlns:a16="http://schemas.microsoft.com/office/drawing/2014/main" id="{5B159987-4569-4116-A136-485882F5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43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v158u8">
            <a:extLst xmlns:a="http://schemas.openxmlformats.org/drawingml/2006/main">
              <a:ext uri="{FF2B5EF4-FFF2-40B4-BE49-F238E27FC236}">
                <a16:creationId xmlns:a16="http://schemas.microsoft.com/office/drawing/2014/main" id="{9D3E5689-5011-4903-85AC-488703EC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76650"/>
            <a:ext cx="300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81B"/>
                </a:solidFill>
              </a:defRPr>
            </a:pPr>
            <a:r>
              <a:rPr sz="1575" b="0">
                <a:solidFill>
                  <a:srgbClr val="17181B"/>
                </a:solidFill>
              </a:rPr>
              <a:t>PUT atualiza</a:t>
            </a:r>
          </a:p>
        </p:txBody>
      </p:sp>
      <p:sp>
        <p:nvSpPr>
          <p:cNvPr id="33" name="shape-3hhvid">
            <a:extLst xmlns:a="http://schemas.openxmlformats.org/drawingml/2006/main">
              <a:ext uri="{FF2B5EF4-FFF2-40B4-BE49-F238E27FC236}">
                <a16:creationId xmlns:a16="http://schemas.microsoft.com/office/drawing/2014/main" id="{DC1C0875-6286-45FC-A9C9-3EE8750E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9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yo9wvn">
            <a:extLst xmlns:a="http://schemas.openxmlformats.org/drawingml/2006/main">
              <a:ext uri="{FF2B5EF4-FFF2-40B4-BE49-F238E27FC236}">
                <a16:creationId xmlns:a16="http://schemas.microsoft.com/office/drawing/2014/main" id="{E15C80EE-6A78-48F1-9FE9-1E4081F9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29100"/>
            <a:ext cx="300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81B"/>
                </a:solidFill>
              </a:defRPr>
            </a:pPr>
            <a:r>
              <a:rPr sz="1575" b="0">
                <a:solidFill>
                  <a:srgbClr val="17181B"/>
                </a:solidFill>
              </a:rPr>
              <a:t>DELETE exclui</a:t>
            </a:r>
          </a:p>
        </p:txBody>
      </p:sp>
      <p:sp>
        <p:nvSpPr>
          <p:cNvPr id="35" name="shape-dzajzk">
            <a:extLst xmlns:a="http://schemas.openxmlformats.org/drawingml/2006/main">
              <a:ext uri="{FF2B5EF4-FFF2-40B4-BE49-F238E27FC236}">
                <a16:creationId xmlns:a16="http://schemas.microsoft.com/office/drawing/2014/main" id="{20E5A917-100E-40D6-94E1-6A19B149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48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-ydmdcb">
            <a:extLst xmlns:a="http://schemas.openxmlformats.org/drawingml/2006/main">
              <a:ext uri="{FF2B5EF4-FFF2-40B4-BE49-F238E27FC236}">
                <a16:creationId xmlns:a16="http://schemas.microsoft.com/office/drawing/2014/main" id="{46FCBE92-851D-4856-82AC-716016C5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81550"/>
            <a:ext cx="300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81B"/>
                </a:solidFill>
              </a:defRPr>
            </a:pPr>
            <a:r>
              <a:rPr sz="1575" b="0">
                <a:solidFill>
                  <a:srgbClr val="17181B"/>
                </a:solidFill>
              </a:rPr>
              <a:t>Logout limpa o token</a:t>
            </a:r>
          </a:p>
        </p:txBody>
      </p:sp>
    </p:spTree>
    <p:extLst>
      <p:ext uri="{BB962C8B-B14F-4D97-AF65-F5344CB8AC3E}">
        <p14:creationId xmlns:p14="http://schemas.microsoft.com/office/powerpoint/2010/main" val="19822104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78A9F8-C25F-4914-8E76-03EFC258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81B"/>
                </a:solidFill>
              </a:defRPr>
            </a:pPr>
            <a:r>
              <a:rPr sz="3000" b="1">
                <a:solidFill>
                  <a:srgbClr val="17181B"/>
                </a:solidFill>
              </a:rPr>
              <a:t>InventarioApiClient: a ponte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75D6A2D-89BA-48D4-B072-D3D598A2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5F66"/>
                </a:solidFill>
              </a:defRPr>
            </a:pPr>
            <a:r>
              <a:rPr sz="1125" b="0">
                <a:solidFill>
                  <a:srgbClr val="5B5F66"/>
                </a:solidFill>
              </a:rPr>
              <a:t>13</a:t>
            </a:r>
          </a:p>
        </p:txBody>
      </p:sp>
      <p:sp>
        <p:nvSpPr>
          <p:cNvPr id="3" name="shape-6kstlf">
            <a:extLst xmlns:a="http://schemas.openxmlformats.org/drawingml/2006/main">
              <a:ext uri="{FF2B5EF4-FFF2-40B4-BE49-F238E27FC236}">
                <a16:creationId xmlns:a16="http://schemas.microsoft.com/office/drawing/2014/main" id="{F2666EB5-BBF6-468D-A67E-8432FD48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tu2uw7">
            <a:extLst xmlns:a="http://schemas.openxmlformats.org/drawingml/2006/main">
              <a:ext uri="{FF2B5EF4-FFF2-40B4-BE49-F238E27FC236}">
                <a16:creationId xmlns:a16="http://schemas.microsoft.com/office/drawing/2014/main" id="{7C174565-0841-401F-A312-17FD560B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907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81B"/>
                </a:solidFill>
              </a:defRPr>
            </a:pPr>
            <a:r>
              <a:rPr sz="2100" b="1">
                <a:solidFill>
                  <a:srgbClr val="17181B"/>
                </a:solidFill>
              </a:rPr>
              <a:t>O antigo cliente simulado foi substituído por chamadas HTTP reais.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419100" y="2571750"/>
          <a:ext xmlns:a="http://schemas.openxmlformats.org/drawingml/2006/main" cx="809625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1143000"/>
                <a:gridCol w="3238500"/>
                <a:gridCol w="1047750"/>
              </a:tblGrid>
              <a:tr h="449036">
                <a:tc>
                  <a:txBody>
                    <a:bodyPr/>
                    <a:lstStyle/>
                    <a:p>
                      <a:r>
                        <a:t>Método Java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HTTP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Rota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JWT</a:t>
                      </a:r>
                    </a:p>
                  </a:txBody>
                  <a:tcPr marL="91440" marR="91440" marT="45720" marB="45720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t>registrar()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/api/auth/register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não</a:t>
                      </a:r>
                    </a:p>
                  </a:txBody>
                  <a:tcPr marL="91440" marR="91440" marT="45720" marB="45720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t>login()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/api/auth/login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não</a:t>
                      </a:r>
                    </a:p>
                  </a:txBody>
                  <a:tcPr marL="91440" marR="91440" marT="45720" marB="45720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t>listarProdutos()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/api/produtos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sim</a:t>
                      </a:r>
                    </a:p>
                  </a:txBody>
                  <a:tcPr marL="91440" marR="91440" marT="45720" marB="45720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t>criarProduto()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/api/produtos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sim</a:t>
                      </a:r>
                    </a:p>
                  </a:txBody>
                  <a:tcPr marL="91440" marR="91440" marT="45720" marB="45720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t>atualizarProduto()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/api/produtos/{id}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sim</a:t>
                      </a:r>
                    </a:p>
                  </a:txBody>
                  <a:tcPr marL="91440" marR="91440" marT="45720" marB="45720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t>deletarProduto()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DELETE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/api/produtos/{id}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sim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shape-ijuyiv">
            <a:extLst xmlns:a="http://schemas.openxmlformats.org/drawingml/2006/main">
              <a:ext uri="{FF2B5EF4-FFF2-40B4-BE49-F238E27FC236}">
                <a16:creationId xmlns:a16="http://schemas.microsoft.com/office/drawing/2014/main" id="{352A0C17-990C-4A74-A293-40350AF4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9337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40bct4">
            <a:extLst xmlns:a="http://schemas.openxmlformats.org/drawingml/2006/main">
              <a:ext uri="{FF2B5EF4-FFF2-40B4-BE49-F238E27FC236}">
                <a16:creationId xmlns:a16="http://schemas.microsoft.com/office/drawing/2014/main" id="{AF1E8709-59A6-41D2-95DA-3BBECBE1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38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INTERNAMENTE</a:t>
            </a:r>
          </a:p>
        </p:txBody>
      </p:sp>
      <p:sp>
        <p:nvSpPr>
          <p:cNvPr id="8" name="shape-6sxbju">
            <a:extLst xmlns:a="http://schemas.openxmlformats.org/drawingml/2006/main">
              <a:ext uri="{FF2B5EF4-FFF2-40B4-BE49-F238E27FC236}">
                <a16:creationId xmlns:a16="http://schemas.microsoft.com/office/drawing/2014/main" id="{7463F4CA-56E5-4318-9501-5F468E40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38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dwlqt3">
            <a:extLst xmlns:a="http://schemas.openxmlformats.org/drawingml/2006/main">
              <a:ext uri="{FF2B5EF4-FFF2-40B4-BE49-F238E27FC236}">
                <a16:creationId xmlns:a16="http://schemas.microsoft.com/office/drawing/2014/main" id="{0CE54364-5C46-465E-8106-9F1C7BEE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71850"/>
            <a:ext cx="205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81B"/>
                </a:solidFill>
              </a:defRPr>
            </a:pPr>
            <a:r>
              <a:rPr sz="1350" b="0">
                <a:solidFill>
                  <a:srgbClr val="17181B"/>
                </a:solidFill>
              </a:rPr>
              <a:t>HttpClient</a:t>
            </a:r>
          </a:p>
        </p:txBody>
      </p:sp>
      <p:sp>
        <p:nvSpPr>
          <p:cNvPr id="10" name="shape-9fr1fr">
            <a:extLst xmlns:a="http://schemas.openxmlformats.org/drawingml/2006/main">
              <a:ext uri="{FF2B5EF4-FFF2-40B4-BE49-F238E27FC236}">
                <a16:creationId xmlns:a16="http://schemas.microsoft.com/office/drawing/2014/main" id="{A908878D-15CF-45E5-8464-7FF9C85A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95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tmvd2d">
            <a:extLst xmlns:a="http://schemas.openxmlformats.org/drawingml/2006/main">
              <a:ext uri="{FF2B5EF4-FFF2-40B4-BE49-F238E27FC236}">
                <a16:creationId xmlns:a16="http://schemas.microsoft.com/office/drawing/2014/main" id="{B4AE3E6A-4F80-4B2D-961D-E0483D1C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29050"/>
            <a:ext cx="205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81B"/>
                </a:solidFill>
              </a:defRPr>
            </a:pPr>
            <a:r>
              <a:rPr sz="1350" b="0">
                <a:solidFill>
                  <a:srgbClr val="17181B"/>
                </a:solidFill>
              </a:rPr>
              <a:t>ObjectMapper</a:t>
            </a:r>
          </a:p>
        </p:txBody>
      </p:sp>
      <p:sp>
        <p:nvSpPr>
          <p:cNvPr id="12" name="shape-93o3br">
            <a:extLst xmlns:a="http://schemas.openxmlformats.org/drawingml/2006/main">
              <a:ext uri="{FF2B5EF4-FFF2-40B4-BE49-F238E27FC236}">
                <a16:creationId xmlns:a16="http://schemas.microsoft.com/office/drawing/2014/main" id="{37F03C25-4079-43DB-94A8-BCC9E8FA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52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r1k5y0">
            <a:extLst xmlns:a="http://schemas.openxmlformats.org/drawingml/2006/main">
              <a:ext uri="{FF2B5EF4-FFF2-40B4-BE49-F238E27FC236}">
                <a16:creationId xmlns:a16="http://schemas.microsoft.com/office/drawing/2014/main" id="{5488D8E0-5AEB-4CCF-8778-38D4828E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86250"/>
            <a:ext cx="205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81B"/>
                </a:solidFill>
              </a:defRPr>
            </a:pPr>
            <a:r>
              <a:rPr sz="1350" b="0">
                <a:solidFill>
                  <a:srgbClr val="17181B"/>
                </a:solidFill>
              </a:rPr>
              <a:t>Bearer token</a:t>
            </a:r>
          </a:p>
        </p:txBody>
      </p:sp>
      <p:sp>
        <p:nvSpPr>
          <p:cNvPr id="14" name="shape-fvhsr9">
            <a:extLst xmlns:a="http://schemas.openxmlformats.org/drawingml/2006/main">
              <a:ext uri="{FF2B5EF4-FFF2-40B4-BE49-F238E27FC236}">
                <a16:creationId xmlns:a16="http://schemas.microsoft.com/office/drawing/2014/main" id="{767FBC48-4FFF-4816-9568-E7BBB711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10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1aose2">
            <a:extLst xmlns:a="http://schemas.openxmlformats.org/drawingml/2006/main">
              <a:ext uri="{FF2B5EF4-FFF2-40B4-BE49-F238E27FC236}">
                <a16:creationId xmlns:a16="http://schemas.microsoft.com/office/drawing/2014/main" id="{2C5F5EA9-F0A8-4009-B8AD-1D855F40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43450"/>
            <a:ext cx="205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81B"/>
                </a:solidFill>
              </a:defRPr>
            </a:pPr>
            <a:r>
              <a:rPr sz="1350" b="0">
                <a:solidFill>
                  <a:srgbClr val="17181B"/>
                </a:solidFill>
              </a:rPr>
              <a:t>Status 2xx</a:t>
            </a:r>
          </a:p>
        </p:txBody>
      </p:sp>
      <p:sp>
        <p:nvSpPr>
          <p:cNvPr id="16" name="shape-nukxrx">
            <a:extLst xmlns:a="http://schemas.openxmlformats.org/drawingml/2006/main">
              <a:ext uri="{FF2B5EF4-FFF2-40B4-BE49-F238E27FC236}">
                <a16:creationId xmlns:a16="http://schemas.microsoft.com/office/drawing/2014/main" id="{29F61FDB-AF1D-4274-B98E-1382928C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67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nhj1c7">
            <a:extLst xmlns:a="http://schemas.openxmlformats.org/drawingml/2006/main">
              <a:ext uri="{FF2B5EF4-FFF2-40B4-BE49-F238E27FC236}">
                <a16:creationId xmlns:a16="http://schemas.microsoft.com/office/drawing/2014/main" id="{1BACFD97-81BF-45F5-AAE2-89F1E537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200650"/>
            <a:ext cx="205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81B"/>
                </a:solidFill>
              </a:defRPr>
            </a:pPr>
            <a:r>
              <a:rPr sz="1350" b="0">
                <a:solidFill>
                  <a:srgbClr val="17181B"/>
                </a:solidFill>
              </a:rPr>
              <a:t>ApiClientException</a:t>
            </a:r>
          </a:p>
        </p:txBody>
      </p:sp>
    </p:spTree>
    <p:extLst>
      <p:ext uri="{BB962C8B-B14F-4D97-AF65-F5344CB8AC3E}">
        <p14:creationId xmlns:p14="http://schemas.microsoft.com/office/powerpoint/2010/main" val="12382927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00563E-4F91-4544-8F67-7737F841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81B"/>
                </a:solidFill>
              </a:defRPr>
            </a:pPr>
            <a:r>
              <a:rPr sz="3000" b="1">
                <a:solidFill>
                  <a:srgbClr val="17181B"/>
                </a:solidFill>
              </a:rPr>
              <a:t>Persistência no H2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27A2476-501D-43C0-9CA9-478777EA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5F66"/>
                </a:solidFill>
              </a:defRPr>
            </a:pPr>
            <a:r>
              <a:rPr sz="1125" b="0">
                <a:solidFill>
                  <a:srgbClr val="5B5F66"/>
                </a:solidFill>
              </a:rPr>
              <a:t>14</a:t>
            </a:r>
          </a:p>
        </p:txBody>
      </p:sp>
      <p:sp>
        <p:nvSpPr>
          <p:cNvPr id="3" name="shape-mqxjhu">
            <a:extLst xmlns:a="http://schemas.openxmlformats.org/drawingml/2006/main">
              <a:ext uri="{FF2B5EF4-FFF2-40B4-BE49-F238E27FC236}">
                <a16:creationId xmlns:a16="http://schemas.microsoft.com/office/drawing/2014/main" id="{F260BEAA-257F-4D0A-8EE9-CCB191F6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vpah5d">
            <a:extLst xmlns:a="http://schemas.openxmlformats.org/drawingml/2006/main">
              <a:ext uri="{FF2B5EF4-FFF2-40B4-BE49-F238E27FC236}">
                <a16:creationId xmlns:a16="http://schemas.microsoft.com/office/drawing/2014/main" id="{833A20B3-8FDD-4781-90B3-0384FD10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09750"/>
            <a:ext cx="48577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ap3fpq">
            <a:extLst xmlns:a="http://schemas.openxmlformats.org/drawingml/2006/main">
              <a:ext uri="{FF2B5EF4-FFF2-40B4-BE49-F238E27FC236}">
                <a16:creationId xmlns:a16="http://schemas.microsoft.com/office/drawing/2014/main" id="{62A6AB7A-9303-4568-8F67-A65037A5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jdbc:h2:file: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./data/inventario_db</a:t>
            </a:r>
          </a:p>
        </p:txBody>
      </p:sp>
      <p:sp>
        <p:nvSpPr>
          <p:cNvPr id="6" name="text-3oon3b">
            <a:extLst xmlns:a="http://schemas.openxmlformats.org/drawingml/2006/main">
              <a:ext uri="{FF2B5EF4-FFF2-40B4-BE49-F238E27FC236}">
                <a16:creationId xmlns:a16="http://schemas.microsoft.com/office/drawing/2014/main" id="{28C10ACE-5C3A-46CD-AB75-BB951775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381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6D7DA"/>
                </a:solidFill>
              </a:defRPr>
            </a:pPr>
            <a:r>
              <a:rPr sz="1650" b="0">
                <a:solidFill>
                  <a:srgbClr val="D6D7DA"/>
                </a:solidFill>
              </a:rPr>
              <a:t>Os dados permanecem após fechar e abrir o sistema.</a:t>
            </a:r>
          </a:p>
        </p:txBody>
      </p:sp>
      <p:sp>
        <p:nvSpPr>
          <p:cNvPr id="7" name="shape-tty7bp">
            <a:extLst xmlns:a="http://schemas.openxmlformats.org/drawingml/2006/main">
              <a:ext uri="{FF2B5EF4-FFF2-40B4-BE49-F238E27FC236}">
                <a16:creationId xmlns:a16="http://schemas.microsoft.com/office/drawing/2014/main" id="{5EE1A3E9-3A62-46AE-A603-4DBC6067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n2c7ev">
            <a:extLst xmlns:a="http://schemas.openxmlformats.org/drawingml/2006/main">
              <a:ext uri="{FF2B5EF4-FFF2-40B4-BE49-F238E27FC236}">
                <a16:creationId xmlns:a16="http://schemas.microsoft.com/office/drawing/2014/main" id="{4C05D82E-BF31-43CA-A97D-26B636D6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339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ddl-auto = update</a:t>
            </a:r>
          </a:p>
        </p:txBody>
      </p:sp>
      <p:sp>
        <p:nvSpPr>
          <p:cNvPr id="9" name="text-mywc2d">
            <a:extLst xmlns:a="http://schemas.openxmlformats.org/drawingml/2006/main">
              <a:ext uri="{FF2B5EF4-FFF2-40B4-BE49-F238E27FC236}">
                <a16:creationId xmlns:a16="http://schemas.microsoft.com/office/drawing/2014/main" id="{CE587859-D059-406E-BBAB-891DB24C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TABELAS</a:t>
            </a:r>
          </a:p>
        </p:txBody>
      </p:sp>
      <p:sp>
        <p:nvSpPr>
          <p:cNvPr id="10" name="shape-vkufqn">
            <a:extLst xmlns:a="http://schemas.openxmlformats.org/drawingml/2006/main">
              <a:ext uri="{FF2B5EF4-FFF2-40B4-BE49-F238E27FC236}">
                <a16:creationId xmlns:a16="http://schemas.microsoft.com/office/drawing/2014/main" id="{5D288AC1-487D-455E-A32E-16FE0FBE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2571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F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11" name="shape-mwm8jj">
            <a:extLst xmlns:a="http://schemas.openxmlformats.org/drawingml/2006/main">
              <a:ext uri="{FF2B5EF4-FFF2-40B4-BE49-F238E27FC236}">
                <a16:creationId xmlns:a16="http://schemas.microsoft.com/office/drawing/2014/main" id="{FBEE2EB7-BDDB-4A6C-974D-91504A6B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ynbzeh">
            <a:extLst xmlns:a="http://schemas.openxmlformats.org/drawingml/2006/main">
              <a:ext uri="{FF2B5EF4-FFF2-40B4-BE49-F238E27FC236}">
                <a16:creationId xmlns:a16="http://schemas.microsoft.com/office/drawing/2014/main" id="{BD84D3EB-FA81-4639-968C-3A4749CA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336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81B"/>
                </a:solidFill>
              </a:defRPr>
            </a:pPr>
            <a:r>
              <a:rPr sz="1725" b="1">
                <a:solidFill>
                  <a:srgbClr val="17181B"/>
                </a:solidFill>
              </a:rPr>
              <a:t>USUARIOS</a:t>
            </a:r>
          </a:p>
        </p:txBody>
      </p:sp>
      <p:sp>
        <p:nvSpPr>
          <p:cNvPr id="13" name="text-u19703">
            <a:extLst xmlns:a="http://schemas.openxmlformats.org/drawingml/2006/main">
              <a:ext uri="{FF2B5EF4-FFF2-40B4-BE49-F238E27FC236}">
                <a16:creationId xmlns:a16="http://schemas.microsoft.com/office/drawing/2014/main" id="{92C310C7-E3B5-4E83-BE4D-C99D801D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95600"/>
            <a:ext cx="21717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id</a:t>
            </a:r>
          </a:p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username</a:t>
            </a:r>
          </a:p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password (BCrypt)</a:t>
            </a:r>
          </a:p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email</a:t>
            </a:r>
          </a:p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ativo</a:t>
            </a:r>
          </a:p>
        </p:txBody>
      </p:sp>
      <p:sp>
        <p:nvSpPr>
          <p:cNvPr id="14" name="shape-ml3z8z">
            <a:extLst xmlns:a="http://schemas.openxmlformats.org/drawingml/2006/main">
              <a:ext uri="{FF2B5EF4-FFF2-40B4-BE49-F238E27FC236}">
                <a16:creationId xmlns:a16="http://schemas.microsoft.com/office/drawing/2014/main" id="{294BC645-B581-47DE-91B4-B16D0C30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62200"/>
            <a:ext cx="2571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F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15" name="shape-65o6wc">
            <a:extLst xmlns:a="http://schemas.openxmlformats.org/drawingml/2006/main">
              <a:ext uri="{FF2B5EF4-FFF2-40B4-BE49-F238E27FC236}">
                <a16:creationId xmlns:a16="http://schemas.microsoft.com/office/drawing/2014/main" id="{2007FB12-43FA-4A4E-8F14-E602DE48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622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e8ryxc">
            <a:extLst xmlns:a="http://schemas.openxmlformats.org/drawingml/2006/main">
              <a:ext uri="{FF2B5EF4-FFF2-40B4-BE49-F238E27FC236}">
                <a16:creationId xmlns:a16="http://schemas.microsoft.com/office/drawing/2014/main" id="{CB0E88AE-C70F-4C76-8BE9-BDC463CA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336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81B"/>
                </a:solidFill>
              </a:defRPr>
            </a:pPr>
            <a:r>
              <a:rPr sz="1725" b="1">
                <a:solidFill>
                  <a:srgbClr val="17181B"/>
                </a:solidFill>
              </a:rPr>
              <a:t>PRODUTOS</a:t>
            </a:r>
          </a:p>
        </p:txBody>
      </p:sp>
      <p:sp>
        <p:nvSpPr>
          <p:cNvPr id="17" name="text-b11frj">
            <a:extLst xmlns:a="http://schemas.openxmlformats.org/drawingml/2006/main">
              <a:ext uri="{FF2B5EF4-FFF2-40B4-BE49-F238E27FC236}">
                <a16:creationId xmlns:a16="http://schemas.microsoft.com/office/drawing/2014/main" id="{D843F622-8398-4D72-9AC0-1A8F102D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95600"/>
            <a:ext cx="21717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id</a:t>
            </a:r>
          </a:p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nome</a:t>
            </a:r>
          </a:p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descricao</a:t>
            </a:r>
          </a:p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preco</a:t>
            </a:r>
          </a:p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quantidade_estoque</a:t>
            </a:r>
          </a:p>
        </p:txBody>
      </p:sp>
      <p:sp>
        <p:nvSpPr>
          <p:cNvPr id="18" name="text-vxoe9t">
            <a:extLst xmlns:a="http://schemas.openxmlformats.org/drawingml/2006/main">
              <a:ext uri="{FF2B5EF4-FFF2-40B4-BE49-F238E27FC236}">
                <a16:creationId xmlns:a16="http://schemas.microsoft.com/office/drawing/2014/main" id="{8C3FF3AD-2C10-43D5-9B73-78CACD94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529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81B"/>
                </a:solidFill>
              </a:defRPr>
            </a:pPr>
            <a:r>
              <a:rPr sz="1350" b="1">
                <a:solidFill>
                  <a:srgbClr val="17181B"/>
                </a:solidFill>
              </a:rPr>
              <a:t>Console</a:t>
            </a:r>
          </a:p>
        </p:txBody>
      </p:sp>
      <p:sp>
        <p:nvSpPr>
          <p:cNvPr id="19" name="text-7kmg0q">
            <a:extLst xmlns:a="http://schemas.openxmlformats.org/drawingml/2006/main">
              <a:ext uri="{FF2B5EF4-FFF2-40B4-BE49-F238E27FC236}">
                <a16:creationId xmlns:a16="http://schemas.microsoft.com/office/drawing/2014/main" id="{09763B37-EEF3-4159-82D1-8A82181A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81B"/>
                </a:solidFill>
              </a:defRPr>
            </a:pPr>
            <a:r>
              <a:rPr sz="1500" b="0">
                <a:solidFill>
                  <a:srgbClr val="17181B"/>
                </a:solidFill>
              </a:rPr>
              <a:t>http://localhost:8080/h2-console</a:t>
            </a:r>
          </a:p>
        </p:txBody>
      </p:sp>
      <p:sp>
        <p:nvSpPr>
          <p:cNvPr id="20" name="text-o6aw8s">
            <a:extLst xmlns:a="http://schemas.openxmlformats.org/drawingml/2006/main">
              <a:ext uri="{FF2B5EF4-FFF2-40B4-BE49-F238E27FC236}">
                <a16:creationId xmlns:a16="http://schemas.microsoft.com/office/drawing/2014/main" id="{773E83F4-2BF6-4B06-BAE8-6BE7C1B8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911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usuário sa  |  senha vazia</a:t>
            </a:r>
          </a:p>
        </p:txBody>
      </p:sp>
    </p:spTree>
    <p:extLst>
      <p:ext uri="{BB962C8B-B14F-4D97-AF65-F5344CB8AC3E}">
        <p14:creationId xmlns:p14="http://schemas.microsoft.com/office/powerpoint/2010/main" val="4509824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B5E3CF-2844-4563-A331-97BB13B5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81B"/>
                </a:solidFill>
              </a:defRPr>
            </a:pPr>
            <a:r>
              <a:rPr sz="3000" b="1">
                <a:solidFill>
                  <a:srgbClr val="17181B"/>
                </a:solidFill>
              </a:rPr>
              <a:t>Swagger e OpenAPI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A96526E-2EE0-48FA-98D9-39C425B4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5F66"/>
                </a:solidFill>
              </a:defRPr>
            </a:pPr>
            <a:r>
              <a:rPr sz="1125" b="0">
                <a:solidFill>
                  <a:srgbClr val="5B5F66"/>
                </a:solidFill>
              </a:rPr>
              <a:t>15</a:t>
            </a:r>
          </a:p>
        </p:txBody>
      </p:sp>
      <p:sp>
        <p:nvSpPr>
          <p:cNvPr id="3" name="shape-dj9nkt">
            <a:extLst xmlns:a="http://schemas.openxmlformats.org/drawingml/2006/main">
              <a:ext uri="{FF2B5EF4-FFF2-40B4-BE49-F238E27FC236}">
                <a16:creationId xmlns:a16="http://schemas.microsoft.com/office/drawing/2014/main" id="{34B4CC9A-FD0F-4337-BBEB-2A234F67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8ltsho">
            <a:extLst xmlns:a="http://schemas.openxmlformats.org/drawingml/2006/main">
              <a:ext uri="{FF2B5EF4-FFF2-40B4-BE49-F238E27FC236}">
                <a16:creationId xmlns:a16="http://schemas.microsoft.com/office/drawing/2014/main" id="{E0D38308-8383-40DE-ADCD-D51CCE22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288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81B"/>
                </a:solidFill>
              </a:defRPr>
            </a:pPr>
            <a:r>
              <a:rPr sz="2325" b="1">
                <a:solidFill>
                  <a:srgbClr val="17181B"/>
                </a:solidFill>
              </a:rPr>
              <a:t>Duas URLs, duas finalidades.</a:t>
            </a:r>
          </a:p>
        </p:txBody>
      </p:sp>
      <p:sp>
        <p:nvSpPr>
          <p:cNvPr id="5" name="shape-528hh7">
            <a:extLst xmlns:a="http://schemas.openxmlformats.org/drawingml/2006/main">
              <a:ext uri="{FF2B5EF4-FFF2-40B4-BE49-F238E27FC236}">
                <a16:creationId xmlns:a16="http://schemas.microsoft.com/office/drawing/2014/main" id="{984C9257-2B82-4F9B-83C4-19DB239C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0"/>
            <a:ext cx="5238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6" name="shape-e0mt4v">
            <a:extLst xmlns:a="http://schemas.openxmlformats.org/drawingml/2006/main">
              <a:ext uri="{FF2B5EF4-FFF2-40B4-BE49-F238E27FC236}">
                <a16:creationId xmlns:a16="http://schemas.microsoft.com/office/drawing/2014/main" id="{E7A84E9A-BC5D-4285-863D-FB6F92CA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k0y66y">
            <a:extLst xmlns:a="http://schemas.openxmlformats.org/drawingml/2006/main">
              <a:ext uri="{FF2B5EF4-FFF2-40B4-BE49-F238E27FC236}">
                <a16:creationId xmlns:a16="http://schemas.microsoft.com/office/drawing/2014/main" id="{D3D94E47-6C93-4BC8-8383-5D5C9AEE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81B"/>
                </a:solidFill>
              </a:defRPr>
            </a:pPr>
            <a:r>
              <a:rPr sz="1725" b="1">
                <a:solidFill>
                  <a:srgbClr val="17181B"/>
                </a:solidFill>
              </a:rPr>
              <a:t>Swagger UI</a:t>
            </a:r>
          </a:p>
        </p:txBody>
      </p:sp>
      <p:sp>
        <p:nvSpPr>
          <p:cNvPr id="8" name="text-nllrqz">
            <a:extLst xmlns:a="http://schemas.openxmlformats.org/drawingml/2006/main">
              <a:ext uri="{FF2B5EF4-FFF2-40B4-BE49-F238E27FC236}">
                <a16:creationId xmlns:a16="http://schemas.microsoft.com/office/drawing/2014/main" id="{32B5AC0B-BF63-40A6-8D6F-33268E35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48387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Interface visual e interativa</a:t>
            </a:r>
          </a:p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http://localhost:8080/swagger-ui.html</a:t>
            </a:r>
          </a:p>
        </p:txBody>
      </p:sp>
      <p:sp>
        <p:nvSpPr>
          <p:cNvPr id="9" name="shape-mygpko">
            <a:extLst xmlns:a="http://schemas.openxmlformats.org/drawingml/2006/main">
              <a:ext uri="{FF2B5EF4-FFF2-40B4-BE49-F238E27FC236}">
                <a16:creationId xmlns:a16="http://schemas.microsoft.com/office/drawing/2014/main" id="{654327A7-F1C4-4ED3-9DE7-1A5084F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67000"/>
            <a:ext cx="56578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F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10" name="shape-wzrnkw">
            <a:extLst xmlns:a="http://schemas.openxmlformats.org/drawingml/2006/main">
              <a:ext uri="{FF2B5EF4-FFF2-40B4-BE49-F238E27FC236}">
                <a16:creationId xmlns:a16="http://schemas.microsoft.com/office/drawing/2014/main" id="{4DD6774A-67FF-458A-954B-010CA718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670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qh20at">
            <a:extLst xmlns:a="http://schemas.openxmlformats.org/drawingml/2006/main">
              <a:ext uri="{FF2B5EF4-FFF2-40B4-BE49-F238E27FC236}">
                <a16:creationId xmlns:a16="http://schemas.microsoft.com/office/drawing/2014/main" id="{D4DF3FDB-4367-4114-AB2F-12BB846A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38450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81B"/>
                </a:solidFill>
              </a:defRPr>
            </a:pPr>
            <a:r>
              <a:rPr sz="1725" b="1">
                <a:solidFill>
                  <a:srgbClr val="17181B"/>
                </a:solidFill>
              </a:rPr>
              <a:t>OpenAPI JSON</a:t>
            </a:r>
          </a:p>
        </p:txBody>
      </p:sp>
      <p:sp>
        <p:nvSpPr>
          <p:cNvPr id="12" name="text-ql09o3">
            <a:extLst xmlns:a="http://schemas.openxmlformats.org/drawingml/2006/main">
              <a:ext uri="{FF2B5EF4-FFF2-40B4-BE49-F238E27FC236}">
                <a16:creationId xmlns:a16="http://schemas.microsoft.com/office/drawing/2014/main" id="{76A84B62-6842-4DB1-9D74-3744CDBA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00400"/>
            <a:ext cx="52578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Contrato técnico processável</a:t>
            </a:r>
          </a:p>
          <a:p xmlns:a="http://schemas.openxmlformats.org/drawingml/2006/main">
            <a:pPr algn="l"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http://localhost:8080/v3/api-docs</a:t>
            </a:r>
          </a:p>
        </p:txBody>
      </p:sp>
      <p:sp>
        <p:nvSpPr>
          <p:cNvPr id="13" name="text-jn0xl6">
            <a:extLst xmlns:a="http://schemas.openxmlformats.org/drawingml/2006/main">
              <a:ext uri="{FF2B5EF4-FFF2-40B4-BE49-F238E27FC236}">
                <a16:creationId xmlns:a16="http://schemas.microsoft.com/office/drawing/2014/main" id="{5BF8CCDD-4C10-4B60-A6EB-8F5E7DA8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19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81B"/>
                </a:solidFill>
              </a:defRPr>
            </a:pPr>
            <a:r>
              <a:rPr sz="1350" b="1">
                <a:solidFill>
                  <a:srgbClr val="17181B"/>
                </a:solidFill>
              </a:rPr>
              <a:t>Fluxo para testar</a:t>
            </a:r>
          </a:p>
        </p:txBody>
      </p:sp>
      <p:sp>
        <p:nvSpPr>
          <p:cNvPr id="14" name="text-hvn5ae">
            <a:extLst xmlns:a="http://schemas.openxmlformats.org/drawingml/2006/main">
              <a:ext uri="{FF2B5EF4-FFF2-40B4-BE49-F238E27FC236}">
                <a16:creationId xmlns:a16="http://schemas.microsoft.com/office/drawing/2014/main" id="{3334637B-6933-41E1-BFFB-CDA17F78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1816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login/registro  →  copiar token  →  Authorize  →  executar Produtos</a:t>
            </a:r>
          </a:p>
        </p:txBody>
      </p:sp>
    </p:spTree>
    <p:extLst>
      <p:ext uri="{BB962C8B-B14F-4D97-AF65-F5344CB8AC3E}">
        <p14:creationId xmlns:p14="http://schemas.microsoft.com/office/powerpoint/2010/main" val="7058766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682A2D-448B-4624-B207-B43EADF6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81B"/>
                </a:solidFill>
              </a:defRPr>
            </a:pPr>
            <a:r>
              <a:rPr sz="3000" b="1">
                <a:solidFill>
                  <a:srgbClr val="17181B"/>
                </a:solidFill>
              </a:rPr>
              <a:t>Evidências de funcionamento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E5B7452-79D2-47FB-9A74-7938B850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5F66"/>
                </a:solidFill>
              </a:defRPr>
            </a:pPr>
            <a:r>
              <a:rPr sz="1125" b="0">
                <a:solidFill>
                  <a:srgbClr val="5B5F66"/>
                </a:solidFill>
              </a:rPr>
              <a:t>16</a:t>
            </a:r>
          </a:p>
        </p:txBody>
      </p:sp>
      <p:sp>
        <p:nvSpPr>
          <p:cNvPr id="3" name="shape-32llcj">
            <a:extLst xmlns:a="http://schemas.openxmlformats.org/drawingml/2006/main">
              <a:ext uri="{FF2B5EF4-FFF2-40B4-BE49-F238E27FC236}">
                <a16:creationId xmlns:a16="http://schemas.microsoft.com/office/drawing/2014/main" id="{0284B12D-BAF7-4BDC-8C8A-7D69F39F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6ipy54">
            <a:extLst xmlns:a="http://schemas.openxmlformats.org/drawingml/2006/main">
              <a:ext uri="{FF2B5EF4-FFF2-40B4-BE49-F238E27FC236}">
                <a16:creationId xmlns:a16="http://schemas.microsoft.com/office/drawing/2014/main" id="{E1331772-45E1-4C36-9E98-C8E539AF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57400"/>
            <a:ext cx="2476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F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5" name="text-l28pda">
            <a:extLst xmlns:a="http://schemas.openxmlformats.org/drawingml/2006/main">
              <a:ext uri="{FF2B5EF4-FFF2-40B4-BE49-F238E27FC236}">
                <a16:creationId xmlns:a16="http://schemas.microsoft.com/office/drawing/2014/main" id="{1C391331-6166-4F6F-8B98-3068B72F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2057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0B0B0D"/>
                </a:solidFill>
              </a:defRPr>
            </a:pPr>
            <a:r>
              <a:rPr sz="4125" b="1">
                <a:solidFill>
                  <a:srgbClr val="0B0B0D"/>
                </a:solidFill>
              </a:rPr>
              <a:t>4</a:t>
            </a:r>
          </a:p>
        </p:txBody>
      </p:sp>
      <p:sp>
        <p:nvSpPr>
          <p:cNvPr id="6" name="text-1un0p9">
            <a:extLst xmlns:a="http://schemas.openxmlformats.org/drawingml/2006/main">
              <a:ext uri="{FF2B5EF4-FFF2-40B4-BE49-F238E27FC236}">
                <a16:creationId xmlns:a16="http://schemas.microsoft.com/office/drawing/2014/main" id="{5623AB95-1E6B-4CD3-94F0-56888A17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F66"/>
                </a:solidFill>
              </a:defRPr>
            </a:pPr>
            <a:r>
              <a:rPr sz="1425" b="0">
                <a:solidFill>
                  <a:srgbClr val="5B5F66"/>
                </a:solidFill>
              </a:rPr>
              <a:t>testes automatizados</a:t>
            </a:r>
          </a:p>
        </p:txBody>
      </p:sp>
      <p:sp>
        <p:nvSpPr>
          <p:cNvPr id="7" name="shape-w6bdn2">
            <a:extLst xmlns:a="http://schemas.openxmlformats.org/drawingml/2006/main">
              <a:ext uri="{FF2B5EF4-FFF2-40B4-BE49-F238E27FC236}">
                <a16:creationId xmlns:a16="http://schemas.microsoft.com/office/drawing/2014/main" id="{EA9041FA-40A1-4160-A0AB-EB060520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57400"/>
            <a:ext cx="2476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F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8" name="text-3way9x">
            <a:extLst xmlns:a="http://schemas.openxmlformats.org/drawingml/2006/main">
              <a:ext uri="{FF2B5EF4-FFF2-40B4-BE49-F238E27FC236}">
                <a16:creationId xmlns:a16="http://schemas.microsoft.com/office/drawing/2014/main" id="{B34E44E1-551F-48B7-97A2-C4C4F46B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00300"/>
            <a:ext cx="2057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0B0B0D"/>
                </a:solidFill>
              </a:defRPr>
            </a:pPr>
            <a:r>
              <a:rPr sz="4125" b="1">
                <a:solidFill>
                  <a:srgbClr val="0B0B0D"/>
                </a:solidFill>
              </a:rPr>
              <a:t>7</a:t>
            </a:r>
          </a:p>
        </p:txBody>
      </p:sp>
      <p:sp>
        <p:nvSpPr>
          <p:cNvPr id="9" name="text-xqdaov">
            <a:extLst xmlns:a="http://schemas.openxmlformats.org/drawingml/2006/main">
              <a:ext uri="{FF2B5EF4-FFF2-40B4-BE49-F238E27FC236}">
                <a16:creationId xmlns:a16="http://schemas.microsoft.com/office/drawing/2014/main" id="{19206C2D-A397-4A3C-8633-66EA6D7E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38550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F66"/>
                </a:solidFill>
              </a:defRPr>
            </a:pPr>
            <a:r>
              <a:rPr sz="1425" b="0">
                <a:solidFill>
                  <a:srgbClr val="5B5F66"/>
                </a:solidFill>
              </a:rPr>
              <a:t>operações OpenAPI</a:t>
            </a:r>
          </a:p>
        </p:txBody>
      </p:sp>
      <p:sp>
        <p:nvSpPr>
          <p:cNvPr id="10" name="shape-nk3ncx">
            <a:extLst xmlns:a="http://schemas.openxmlformats.org/drawingml/2006/main">
              <a:ext uri="{FF2B5EF4-FFF2-40B4-BE49-F238E27FC236}">
                <a16:creationId xmlns:a16="http://schemas.microsoft.com/office/drawing/2014/main" id="{2C186B35-1687-42EE-AD55-9745BA57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57400"/>
            <a:ext cx="2476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F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11" name="text-6ru4im">
            <a:extLst xmlns:a="http://schemas.openxmlformats.org/drawingml/2006/main">
              <a:ext uri="{FF2B5EF4-FFF2-40B4-BE49-F238E27FC236}">
                <a16:creationId xmlns:a16="http://schemas.microsoft.com/office/drawing/2014/main" id="{E0910B06-2F26-40A9-9596-9C3D074D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0300"/>
            <a:ext cx="2057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0B0B0D"/>
                </a:solidFill>
              </a:defRPr>
            </a:pPr>
            <a:r>
              <a:rPr sz="4125" b="1">
                <a:solidFill>
                  <a:srgbClr val="0B0B0D"/>
                </a:solidFill>
              </a:rPr>
              <a:t>401</a:t>
            </a:r>
          </a:p>
        </p:txBody>
      </p:sp>
      <p:sp>
        <p:nvSpPr>
          <p:cNvPr id="12" name="text-hnsoy1">
            <a:extLst xmlns:a="http://schemas.openxmlformats.org/drawingml/2006/main">
              <a:ext uri="{FF2B5EF4-FFF2-40B4-BE49-F238E27FC236}">
                <a16:creationId xmlns:a16="http://schemas.microsoft.com/office/drawing/2014/main" id="{A6D9EDB8-0D58-4BB2-9DC7-CED84348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38550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F66"/>
                </a:solidFill>
              </a:defRPr>
            </a:pPr>
            <a:r>
              <a:rPr sz="1425" b="0">
                <a:solidFill>
                  <a:srgbClr val="5B5F66"/>
                </a:solidFill>
              </a:rPr>
              <a:t>sem token no CRUD</a:t>
            </a:r>
          </a:p>
        </p:txBody>
      </p:sp>
      <p:sp>
        <p:nvSpPr>
          <p:cNvPr id="13" name="shape-mi8gj1">
            <a:extLst xmlns:a="http://schemas.openxmlformats.org/drawingml/2006/main">
              <a:ext uri="{FF2B5EF4-FFF2-40B4-BE49-F238E27FC236}">
                <a16:creationId xmlns:a16="http://schemas.microsoft.com/office/drawing/2014/main" id="{62650FA0-FFD2-44F7-8FE5-2F13C3B3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57400"/>
            <a:ext cx="2476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9525">
            <a:solidFill>
              <a:srgbClr val="B9BCC2"/>
            </a:solidFill>
            <a:prstDash val="solid"/>
          </a:ln>
        </p:spPr>
      </p:sp>
      <p:sp>
        <p:nvSpPr>
          <p:cNvPr id="14" name="text-p3lkax">
            <a:extLst xmlns:a="http://schemas.openxmlformats.org/drawingml/2006/main">
              <a:ext uri="{FF2B5EF4-FFF2-40B4-BE49-F238E27FC236}">
                <a16:creationId xmlns:a16="http://schemas.microsoft.com/office/drawing/2014/main" id="{8A6808F3-AEEF-40D3-9FA3-4E9574D4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00300"/>
            <a:ext cx="2057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6B35"/>
                </a:solidFill>
              </a:defRPr>
            </a:pPr>
            <a:r>
              <a:rPr sz="4125" b="1">
                <a:solidFill>
                  <a:srgbClr val="FF6B35"/>
                </a:solidFill>
              </a:rPr>
              <a:t>100%</a:t>
            </a:r>
          </a:p>
        </p:txBody>
      </p:sp>
      <p:sp>
        <p:nvSpPr>
          <p:cNvPr id="15" name="text-uu36ls">
            <a:extLst xmlns:a="http://schemas.openxmlformats.org/drawingml/2006/main">
              <a:ext uri="{FF2B5EF4-FFF2-40B4-BE49-F238E27FC236}">
                <a16:creationId xmlns:a16="http://schemas.microsoft.com/office/drawing/2014/main" id="{D367BB60-0115-4EA8-B95C-371F7A38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38550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F66"/>
                </a:solidFill>
              </a:defRPr>
            </a:pPr>
            <a:r>
              <a:rPr sz="1425" b="0">
                <a:solidFill>
                  <a:srgbClr val="5B5F66"/>
                </a:solidFill>
              </a:rPr>
              <a:t>CRUD real no cliente</a:t>
            </a:r>
          </a:p>
        </p:txBody>
      </p:sp>
      <p:sp>
        <p:nvSpPr>
          <p:cNvPr id="16" name="text-wswnv6">
            <a:extLst xmlns:a="http://schemas.openxmlformats.org/drawingml/2006/main">
              <a:ext uri="{FF2B5EF4-FFF2-40B4-BE49-F238E27FC236}">
                <a16:creationId xmlns:a16="http://schemas.microsoft.com/office/drawing/2014/main" id="{B111D7C7-D430-4A0B-9749-06C67CEE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81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81B"/>
                </a:solidFill>
              </a:defRPr>
            </a:pPr>
            <a:r>
              <a:rPr sz="1575" b="0">
                <a:solidFill>
                  <a:srgbClr val="17181B"/>
                </a:solidFill>
              </a:rPr>
              <a:t>Testes cobrem segurança, criação autenticada, erro 404 e o CRUD completo usando o mesmo InventarioApiClient do Swing.</a:t>
            </a:r>
          </a:p>
        </p:txBody>
      </p:sp>
    </p:spTree>
    <p:extLst>
      <p:ext uri="{BB962C8B-B14F-4D97-AF65-F5344CB8AC3E}">
        <p14:creationId xmlns:p14="http://schemas.microsoft.com/office/powerpoint/2010/main" val="213142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8D2E3C-8017-460F-8D82-35029A49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81B"/>
                </a:solidFill>
              </a:defRPr>
            </a:pPr>
            <a:r>
              <a:rPr sz="3000" b="1">
                <a:solidFill>
                  <a:srgbClr val="17181B"/>
                </a:solidFill>
              </a:rPr>
              <a:t>Limitações conhecidas e evolução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CA3DB6E-EF38-4CF2-A8AC-BD06CF76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5F66"/>
                </a:solidFill>
              </a:defRPr>
            </a:pPr>
            <a:r>
              <a:rPr sz="1125" b="0">
                <a:solidFill>
                  <a:srgbClr val="5B5F66"/>
                </a:solidFill>
              </a:rPr>
              <a:t>17</a:t>
            </a:r>
          </a:p>
        </p:txBody>
      </p:sp>
      <p:sp>
        <p:nvSpPr>
          <p:cNvPr id="3" name="shape-nhnmkg">
            <a:extLst xmlns:a="http://schemas.openxmlformats.org/drawingml/2006/main">
              <a:ext uri="{FF2B5EF4-FFF2-40B4-BE49-F238E27FC236}">
                <a16:creationId xmlns:a16="http://schemas.microsoft.com/office/drawing/2014/main" id="{BA5E28BC-5EF1-45E4-9B8F-6B5D00EA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9lreq2">
            <a:extLst xmlns:a="http://schemas.openxmlformats.org/drawingml/2006/main">
              <a:ext uri="{FF2B5EF4-FFF2-40B4-BE49-F238E27FC236}">
                <a16:creationId xmlns:a16="http://schemas.microsoft.com/office/drawing/2014/main" id="{86F15896-D7D7-48E8-940D-4E7D38BC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66900"/>
            <a:ext cx="533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t7398r">
            <a:extLst xmlns:a="http://schemas.openxmlformats.org/drawingml/2006/main">
              <a:ext uri="{FF2B5EF4-FFF2-40B4-BE49-F238E27FC236}">
                <a16:creationId xmlns:a16="http://schemas.microsoft.com/office/drawing/2014/main" id="{3252BE1A-FFDC-4A19-AC1D-D51122AC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</a:defRPr>
            </a:pPr>
            <a:r>
              <a:rPr sz="1575" b="1">
                <a:solidFill>
                  <a:srgbClr val="FF6B35"/>
                </a:solidFill>
              </a:rPr>
              <a:t>Segredo JWT</a:t>
            </a:r>
          </a:p>
        </p:txBody>
      </p:sp>
      <p:sp>
        <p:nvSpPr>
          <p:cNvPr id="6" name="text-2t1x14">
            <a:extLst xmlns:a="http://schemas.openxmlformats.org/drawingml/2006/main">
              <a:ext uri="{FF2B5EF4-FFF2-40B4-BE49-F238E27FC236}">
                <a16:creationId xmlns:a16="http://schemas.microsoft.com/office/drawing/2014/main" id="{260F0933-95C4-4B71-9297-A4D2F22D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383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81B"/>
                </a:solidFill>
              </a:defRPr>
            </a:pPr>
            <a:r>
              <a:rPr sz="1350" b="0">
                <a:solidFill>
                  <a:srgbClr val="17181B"/>
                </a:solidFill>
              </a:rPr>
              <a:t>Mover para variável de ambiente</a:t>
            </a:r>
          </a:p>
        </p:txBody>
      </p:sp>
      <p:sp>
        <p:nvSpPr>
          <p:cNvPr id="7" name="shape-014pfa">
            <a:extLst xmlns:a="http://schemas.openxmlformats.org/drawingml/2006/main">
              <a:ext uri="{FF2B5EF4-FFF2-40B4-BE49-F238E27FC236}">
                <a16:creationId xmlns:a16="http://schemas.microsoft.com/office/drawing/2014/main" id="{0650DEFD-6A89-4D5A-B4D1-6E76B4A0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66900"/>
            <a:ext cx="533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651rk2">
            <a:extLst xmlns:a="http://schemas.openxmlformats.org/drawingml/2006/main">
              <a:ext uri="{FF2B5EF4-FFF2-40B4-BE49-F238E27FC236}">
                <a16:creationId xmlns:a16="http://schemas.microsoft.com/office/drawing/2014/main" id="{92F8C7D6-1B97-40D7-A982-07E05E56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</a:defRPr>
            </a:pPr>
            <a:r>
              <a:rPr sz="1575" b="1">
                <a:solidFill>
                  <a:srgbClr val="FF6B35"/>
                </a:solidFill>
              </a:rPr>
              <a:t>Validação</a:t>
            </a:r>
          </a:p>
        </p:txBody>
      </p:sp>
      <p:sp>
        <p:nvSpPr>
          <p:cNvPr id="9" name="text-aezq0g">
            <a:extLst xmlns:a="http://schemas.openxmlformats.org/drawingml/2006/main">
              <a:ext uri="{FF2B5EF4-FFF2-40B4-BE49-F238E27FC236}">
                <a16:creationId xmlns:a16="http://schemas.microsoft.com/office/drawing/2014/main" id="{FD185A4D-271C-42D7-8DCB-092CC94E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81B"/>
                </a:solidFill>
              </a:defRPr>
            </a:pPr>
            <a:r>
              <a:rPr sz="1350" b="0">
                <a:solidFill>
                  <a:srgbClr val="17181B"/>
                </a:solidFill>
              </a:rPr>
              <a:t>Adicionar Bean Validation no backend</a:t>
            </a:r>
          </a:p>
        </p:txBody>
      </p:sp>
      <p:sp>
        <p:nvSpPr>
          <p:cNvPr id="10" name="shape-0mxieb">
            <a:extLst xmlns:a="http://schemas.openxmlformats.org/drawingml/2006/main">
              <a:ext uri="{FF2B5EF4-FFF2-40B4-BE49-F238E27FC236}">
                <a16:creationId xmlns:a16="http://schemas.microsoft.com/office/drawing/2014/main" id="{644D9B23-3CA5-48D1-8641-67BC3C35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81350"/>
            <a:ext cx="533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iq2e27">
            <a:extLst xmlns:a="http://schemas.openxmlformats.org/drawingml/2006/main">
              <a:ext uri="{FF2B5EF4-FFF2-40B4-BE49-F238E27FC236}">
                <a16:creationId xmlns:a16="http://schemas.microsoft.com/office/drawing/2014/main" id="{1216EE09-8C25-43F5-8F2B-255F880A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</a:defRPr>
            </a:pPr>
            <a:r>
              <a:rPr sz="1575" b="1">
                <a:solidFill>
                  <a:srgbClr val="FF6B35"/>
                </a:solidFill>
              </a:rPr>
              <a:t>Banco</a:t>
            </a:r>
          </a:p>
        </p:txBody>
      </p:sp>
      <p:sp>
        <p:nvSpPr>
          <p:cNvPr id="12" name="text-1a8bvu">
            <a:extLst xmlns:a="http://schemas.openxmlformats.org/drawingml/2006/main">
              <a:ext uri="{FF2B5EF4-FFF2-40B4-BE49-F238E27FC236}">
                <a16:creationId xmlns:a16="http://schemas.microsoft.com/office/drawing/2014/main" id="{97D29BA8-72D3-439E-B8C5-18D205FB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35280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81B"/>
                </a:solidFill>
              </a:defRPr>
            </a:pPr>
            <a:r>
              <a:rPr sz="1350" b="0">
                <a:solidFill>
                  <a:srgbClr val="17181B"/>
                </a:solidFill>
              </a:rPr>
              <a:t>Flyway e PostgreSQL em produção</a:t>
            </a:r>
          </a:p>
        </p:txBody>
      </p:sp>
      <p:sp>
        <p:nvSpPr>
          <p:cNvPr id="13" name="shape-7t03hu">
            <a:extLst xmlns:a="http://schemas.openxmlformats.org/drawingml/2006/main">
              <a:ext uri="{FF2B5EF4-FFF2-40B4-BE49-F238E27FC236}">
                <a16:creationId xmlns:a16="http://schemas.microsoft.com/office/drawing/2014/main" id="{E23CA250-3C3A-4288-81FF-1A8BBA7E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533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7rqmf">
            <a:extLst xmlns:a="http://schemas.openxmlformats.org/drawingml/2006/main">
              <a:ext uri="{FF2B5EF4-FFF2-40B4-BE49-F238E27FC236}">
                <a16:creationId xmlns:a16="http://schemas.microsoft.com/office/drawing/2014/main" id="{EA83A9F9-CD84-461C-866D-12F2C173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</a:defRPr>
            </a:pPr>
            <a:r>
              <a:rPr sz="1575" b="1">
                <a:solidFill>
                  <a:srgbClr val="FF6B35"/>
                </a:solidFill>
              </a:rPr>
              <a:t>Segurança</a:t>
            </a:r>
          </a:p>
        </p:txBody>
      </p:sp>
      <p:sp>
        <p:nvSpPr>
          <p:cNvPr id="15" name="text-efc0sm">
            <a:extLst xmlns:a="http://schemas.openxmlformats.org/drawingml/2006/main">
              <a:ext uri="{FF2B5EF4-FFF2-40B4-BE49-F238E27FC236}">
                <a16:creationId xmlns:a16="http://schemas.microsoft.com/office/drawing/2014/main" id="{1C02A97A-56CE-4673-9049-17A585EE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81B"/>
                </a:solidFill>
              </a:defRPr>
            </a:pPr>
            <a:r>
              <a:rPr sz="1350" b="0">
                <a:solidFill>
                  <a:srgbClr val="17181B"/>
                </a:solidFill>
              </a:rPr>
              <a:t>Desativar H2 Console e usar HTTPS</a:t>
            </a:r>
          </a:p>
        </p:txBody>
      </p:sp>
      <p:sp>
        <p:nvSpPr>
          <p:cNvPr id="16" name="shape-x34k0a">
            <a:extLst xmlns:a="http://schemas.openxmlformats.org/drawingml/2006/main">
              <a:ext uri="{FF2B5EF4-FFF2-40B4-BE49-F238E27FC236}">
                <a16:creationId xmlns:a16="http://schemas.microsoft.com/office/drawing/2014/main" id="{A3A14FD8-7BE9-4CC2-B293-73ED6863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95800"/>
            <a:ext cx="533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nk6v99">
            <a:extLst xmlns:a="http://schemas.openxmlformats.org/drawingml/2006/main">
              <a:ext uri="{FF2B5EF4-FFF2-40B4-BE49-F238E27FC236}">
                <a16:creationId xmlns:a16="http://schemas.microsoft.com/office/drawing/2014/main" id="{CF4D6A36-940D-4661-BA9F-43481B35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</a:defRPr>
            </a:pPr>
            <a:r>
              <a:rPr sz="1575" b="1">
                <a:solidFill>
                  <a:srgbClr val="FF6B35"/>
                </a:solidFill>
              </a:rPr>
              <a:t>Arquitetura</a:t>
            </a:r>
          </a:p>
        </p:txBody>
      </p:sp>
      <p:sp>
        <p:nvSpPr>
          <p:cNvPr id="18" name="text-daehwq">
            <a:extLst xmlns:a="http://schemas.openxmlformats.org/drawingml/2006/main">
              <a:ext uri="{FF2B5EF4-FFF2-40B4-BE49-F238E27FC236}">
                <a16:creationId xmlns:a16="http://schemas.microsoft.com/office/drawing/2014/main" id="{5EF6D352-8960-45EB-971F-F835EF11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6672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81B"/>
                </a:solidFill>
              </a:defRPr>
            </a:pPr>
            <a:r>
              <a:rPr sz="1350" b="0">
                <a:solidFill>
                  <a:srgbClr val="17181B"/>
                </a:solidFill>
              </a:rPr>
              <a:t>DTOs próprios e AuthService</a:t>
            </a:r>
          </a:p>
        </p:txBody>
      </p:sp>
      <p:sp>
        <p:nvSpPr>
          <p:cNvPr id="19" name="shape-2cpk7e">
            <a:extLst xmlns:a="http://schemas.openxmlformats.org/drawingml/2006/main">
              <a:ext uri="{FF2B5EF4-FFF2-40B4-BE49-F238E27FC236}">
                <a16:creationId xmlns:a16="http://schemas.microsoft.com/office/drawing/2014/main" id="{FF1C7419-863E-4B8F-A4AF-340A66DD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95800"/>
            <a:ext cx="533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q6tkc8">
            <a:extLst xmlns:a="http://schemas.openxmlformats.org/drawingml/2006/main">
              <a:ext uri="{FF2B5EF4-FFF2-40B4-BE49-F238E27FC236}">
                <a16:creationId xmlns:a16="http://schemas.microsoft.com/office/drawing/2014/main" id="{F7BDA311-94D3-466A-A8A6-CD914654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67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</a:defRPr>
            </a:pPr>
            <a:r>
              <a:rPr sz="1575" b="1">
                <a:solidFill>
                  <a:srgbClr val="FF6B35"/>
                </a:solidFill>
              </a:rPr>
              <a:t>Escala</a:t>
            </a:r>
          </a:p>
        </p:txBody>
      </p:sp>
      <p:sp>
        <p:nvSpPr>
          <p:cNvPr id="21" name="text-0h1a8f">
            <a:extLst xmlns:a="http://schemas.openxmlformats.org/drawingml/2006/main">
              <a:ext uri="{FF2B5EF4-FFF2-40B4-BE49-F238E27FC236}">
                <a16:creationId xmlns:a16="http://schemas.microsoft.com/office/drawing/2014/main" id="{C6E8988D-77B5-4EDC-9E2C-44F60AAC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672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81B"/>
                </a:solidFill>
              </a:defRPr>
            </a:pPr>
            <a:r>
              <a:rPr sz="1350" b="0">
                <a:solidFill>
                  <a:srgbClr val="17181B"/>
                </a:solidFill>
              </a:rPr>
              <a:t>Paginação, perfis e papéis</a:t>
            </a:r>
          </a:p>
        </p:txBody>
      </p:sp>
      <p:sp>
        <p:nvSpPr>
          <p:cNvPr id="22" name="text-2c1861">
            <a:extLst xmlns:a="http://schemas.openxmlformats.org/drawingml/2006/main">
              <a:ext uri="{FF2B5EF4-FFF2-40B4-BE49-F238E27FC236}">
                <a16:creationId xmlns:a16="http://schemas.microsoft.com/office/drawing/2014/main" id="{88637BB4-5407-4D7B-B593-A93CF306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626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81B"/>
                </a:solidFill>
              </a:defRPr>
            </a:pPr>
            <a:r>
              <a:rPr sz="1500" b="1">
                <a:solidFill>
                  <a:srgbClr val="17181B"/>
                </a:solidFill>
              </a:rPr>
              <a:t>Reconhecer limites demonstra maturidade arquitetural.</a:t>
            </a:r>
          </a:p>
        </p:txBody>
      </p:sp>
    </p:spTree>
    <p:extLst>
      <p:ext uri="{BB962C8B-B14F-4D97-AF65-F5344CB8AC3E}">
        <p14:creationId xmlns:p14="http://schemas.microsoft.com/office/powerpoint/2010/main" val="9424558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xt6ujl">
            <a:extLst xmlns:a="http://schemas.openxmlformats.org/drawingml/2006/main">
              <a:ext uri="{FF2B5EF4-FFF2-40B4-BE49-F238E27FC236}">
                <a16:creationId xmlns:a16="http://schemas.microsoft.com/office/drawing/2014/main" id="{0718559B-AD67-4FB8-B3B9-51265840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DEMONSTRAÇÃO FINAL</a:t>
            </a:r>
          </a:p>
        </p:txBody>
      </p:sp>
      <p:sp>
        <p:nvSpPr>
          <p:cNvPr id="2" name="text-amp5l4">
            <a:extLst xmlns:a="http://schemas.openxmlformats.org/drawingml/2006/main">
              <a:ext uri="{FF2B5EF4-FFF2-40B4-BE49-F238E27FC236}">
                <a16:creationId xmlns:a16="http://schemas.microsoft.com/office/drawing/2014/main" id="{0C33D3EF-7083-4378-BC7D-FD2FBE23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685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7181B"/>
                </a:solidFill>
              </a:defRPr>
            </a:pPr>
            <a:r>
              <a:rPr sz="4200" b="1">
                <a:solidFill>
                  <a:srgbClr val="17181B"/>
                </a:solidFill>
              </a:rPr>
              <a:t>Um fluxo completo,</a:t>
            </a:r>
          </a:p>
          <a:p xmlns:a="http://schemas.openxmlformats.org/drawingml/2006/main">
            <a:pPr algn="l">
              <a:defRPr sz="4200" b="1">
                <a:solidFill>
                  <a:srgbClr val="17181B"/>
                </a:solidFill>
              </a:defRPr>
            </a:pPr>
            <a:r>
              <a:rPr sz="4200" b="1">
                <a:solidFill>
                  <a:srgbClr val="17181B"/>
                </a:solidFill>
              </a:rPr>
              <a:t>do clique ao banco.</a:t>
            </a:r>
          </a:p>
        </p:txBody>
      </p:sp>
      <p:sp>
        <p:nvSpPr>
          <p:cNvPr id="3" name="text-tzkd49">
            <a:extLst xmlns:a="http://schemas.openxmlformats.org/drawingml/2006/main">
              <a:ext uri="{FF2B5EF4-FFF2-40B4-BE49-F238E27FC236}">
                <a16:creationId xmlns:a16="http://schemas.microsoft.com/office/drawing/2014/main" id="{00E5EFA5-EF78-42C3-A5EC-3DA275C6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4" name="text-1fs6lw">
            <a:extLst xmlns:a="http://schemas.openxmlformats.org/drawingml/2006/main">
              <a:ext uri="{FF2B5EF4-FFF2-40B4-BE49-F238E27FC236}">
                <a16:creationId xmlns:a16="http://schemas.microsoft.com/office/drawing/2014/main" id="{F8A54C65-07C8-4168-9E27-286EF117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81B"/>
                </a:solidFill>
              </a:defRPr>
            </a:pPr>
            <a:r>
              <a:rPr sz="1800" b="1">
                <a:solidFill>
                  <a:srgbClr val="17181B"/>
                </a:solidFill>
              </a:rPr>
              <a:t>Subir</a:t>
            </a:r>
          </a:p>
        </p:txBody>
      </p:sp>
      <p:sp>
        <p:nvSpPr>
          <p:cNvPr id="5" name="shape-sxero8">
            <a:extLst xmlns:a="http://schemas.openxmlformats.org/drawingml/2006/main">
              <a:ext uri="{FF2B5EF4-FFF2-40B4-BE49-F238E27FC236}">
                <a16:creationId xmlns:a16="http://schemas.microsoft.com/office/drawing/2014/main" id="{AF135920-8B12-4E6E-B410-190DB885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4335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rjibpx">
            <a:extLst xmlns:a="http://schemas.openxmlformats.org/drawingml/2006/main">
              <a:ext uri="{FF2B5EF4-FFF2-40B4-BE49-F238E27FC236}">
                <a16:creationId xmlns:a16="http://schemas.microsoft.com/office/drawing/2014/main" id="{35443475-241E-4830-9567-C837E604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810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7" name="text-3rrqh4">
            <a:extLst xmlns:a="http://schemas.openxmlformats.org/drawingml/2006/main">
              <a:ext uri="{FF2B5EF4-FFF2-40B4-BE49-F238E27FC236}">
                <a16:creationId xmlns:a16="http://schemas.microsoft.com/office/drawing/2014/main" id="{D6EA5BF7-E617-44FB-B2E4-0E8E775E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2672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81B"/>
                </a:solidFill>
              </a:defRPr>
            </a:pPr>
            <a:r>
              <a:rPr sz="1800" b="1">
                <a:solidFill>
                  <a:srgbClr val="17181B"/>
                </a:solidFill>
              </a:rPr>
              <a:t>Registrar</a:t>
            </a:r>
          </a:p>
        </p:txBody>
      </p:sp>
      <p:sp>
        <p:nvSpPr>
          <p:cNvPr id="8" name="shape-62avac">
            <a:extLst xmlns:a="http://schemas.openxmlformats.org/drawingml/2006/main">
              <a:ext uri="{FF2B5EF4-FFF2-40B4-BE49-F238E27FC236}">
                <a16:creationId xmlns:a16="http://schemas.microsoft.com/office/drawing/2014/main" id="{A071AC1E-D938-4C13-8B16-84681FC0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94335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isq4bv">
            <a:extLst xmlns:a="http://schemas.openxmlformats.org/drawingml/2006/main">
              <a:ext uri="{FF2B5EF4-FFF2-40B4-BE49-F238E27FC236}">
                <a16:creationId xmlns:a16="http://schemas.microsoft.com/office/drawing/2014/main" id="{C98ACCB1-8467-45C2-8F0D-9C3F9323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10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0" name="text-5pl47s">
            <a:extLst xmlns:a="http://schemas.openxmlformats.org/drawingml/2006/main">
              <a:ext uri="{FF2B5EF4-FFF2-40B4-BE49-F238E27FC236}">
                <a16:creationId xmlns:a16="http://schemas.microsoft.com/office/drawing/2014/main" id="{FEB4E1A1-E227-4956-B06E-CD4CB506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672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81B"/>
                </a:solidFill>
              </a:defRPr>
            </a:pPr>
            <a:r>
              <a:rPr sz="1800" b="1">
                <a:solidFill>
                  <a:srgbClr val="17181B"/>
                </a:solidFill>
              </a:rPr>
              <a:t>Cadastrar</a:t>
            </a:r>
          </a:p>
        </p:txBody>
      </p:sp>
      <p:sp>
        <p:nvSpPr>
          <p:cNvPr id="11" name="shape-0lyg86">
            <a:extLst xmlns:a="http://schemas.openxmlformats.org/drawingml/2006/main">
              <a:ext uri="{FF2B5EF4-FFF2-40B4-BE49-F238E27FC236}">
                <a16:creationId xmlns:a16="http://schemas.microsoft.com/office/drawing/2014/main" id="{A58AFB94-CB7B-4F76-9CFA-537F4F70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94335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vexwbi">
            <a:extLst xmlns:a="http://schemas.openxmlformats.org/drawingml/2006/main">
              <a:ext uri="{FF2B5EF4-FFF2-40B4-BE49-F238E27FC236}">
                <a16:creationId xmlns:a16="http://schemas.microsoft.com/office/drawing/2014/main" id="{CDE68E34-1FC8-443B-B5B5-9DAFB8DF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10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13" name="text-f5ben5">
            <a:extLst xmlns:a="http://schemas.openxmlformats.org/drawingml/2006/main">
              <a:ext uri="{FF2B5EF4-FFF2-40B4-BE49-F238E27FC236}">
                <a16:creationId xmlns:a16="http://schemas.microsoft.com/office/drawing/2014/main" id="{46858292-7B67-4337-BC70-B1F2D229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672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81B"/>
                </a:solidFill>
              </a:defRPr>
            </a:pPr>
            <a:r>
              <a:rPr sz="1800" b="1">
                <a:solidFill>
                  <a:srgbClr val="17181B"/>
                </a:solidFill>
              </a:rPr>
              <a:t>Swagger</a:t>
            </a:r>
          </a:p>
        </p:txBody>
      </p:sp>
      <p:sp>
        <p:nvSpPr>
          <p:cNvPr id="14" name="shape-tuzf7k">
            <a:extLst xmlns:a="http://schemas.openxmlformats.org/drawingml/2006/main">
              <a:ext uri="{FF2B5EF4-FFF2-40B4-BE49-F238E27FC236}">
                <a16:creationId xmlns:a16="http://schemas.microsoft.com/office/drawing/2014/main" id="{646D661F-6FD5-435F-A64D-D8ED1CCD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94335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w19znf">
            <a:extLst xmlns:a="http://schemas.openxmlformats.org/drawingml/2006/main">
              <a:ext uri="{FF2B5EF4-FFF2-40B4-BE49-F238E27FC236}">
                <a16:creationId xmlns:a16="http://schemas.microsoft.com/office/drawing/2014/main" id="{DDBC9368-70A3-4D41-A9F8-FC8204C4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10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05</a:t>
            </a:r>
          </a:p>
        </p:txBody>
      </p:sp>
      <p:sp>
        <p:nvSpPr>
          <p:cNvPr id="16" name="text-1sgqvk">
            <a:extLst xmlns:a="http://schemas.openxmlformats.org/drawingml/2006/main">
              <a:ext uri="{FF2B5EF4-FFF2-40B4-BE49-F238E27FC236}">
                <a16:creationId xmlns:a16="http://schemas.microsoft.com/office/drawing/2014/main" id="{3F7B18BD-48E7-481A-B0B9-CB887132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672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81B"/>
                </a:solidFill>
              </a:defRPr>
            </a:pPr>
            <a:r>
              <a:rPr sz="1800" b="1">
                <a:solidFill>
                  <a:srgbClr val="17181B"/>
                </a:solidFill>
              </a:rPr>
              <a:t>H2</a:t>
            </a:r>
          </a:p>
        </p:txBody>
      </p:sp>
      <p:sp>
        <p:nvSpPr>
          <p:cNvPr id="17" name="shape-thg5zz">
            <a:extLst xmlns:a="http://schemas.openxmlformats.org/drawingml/2006/main">
              <a:ext uri="{FF2B5EF4-FFF2-40B4-BE49-F238E27FC236}">
                <a16:creationId xmlns:a16="http://schemas.microsoft.com/office/drawing/2014/main" id="{61F4BBCB-BC41-45E4-B60C-D6A976A8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94335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0p9mi5">
            <a:extLst xmlns:a="http://schemas.openxmlformats.org/drawingml/2006/main">
              <a:ext uri="{FF2B5EF4-FFF2-40B4-BE49-F238E27FC236}">
                <a16:creationId xmlns:a16="http://schemas.microsoft.com/office/drawing/2014/main" id="{4B38B7FF-90CD-4968-8F08-16330B78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10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06</a:t>
            </a:r>
          </a:p>
        </p:txBody>
      </p:sp>
      <p:sp>
        <p:nvSpPr>
          <p:cNvPr id="19" name="text-ll8krr">
            <a:extLst xmlns:a="http://schemas.openxmlformats.org/drawingml/2006/main">
              <a:ext uri="{FF2B5EF4-FFF2-40B4-BE49-F238E27FC236}">
                <a16:creationId xmlns:a16="http://schemas.microsoft.com/office/drawing/2014/main" id="{0E28DAFA-7B0C-42E4-B96E-0BE61FAB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2672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81B"/>
                </a:solidFill>
              </a:defRPr>
            </a:pPr>
            <a:r>
              <a:rPr sz="1800" b="1">
                <a:solidFill>
                  <a:srgbClr val="17181B"/>
                </a:solidFill>
              </a:rPr>
              <a:t>401</a:t>
            </a:r>
          </a:p>
        </p:txBody>
      </p:sp>
      <p:sp>
        <p:nvSpPr>
          <p:cNvPr id="20" name="shape-z02wz4">
            <a:extLst xmlns:a="http://schemas.openxmlformats.org/drawingml/2006/main">
              <a:ext uri="{FF2B5EF4-FFF2-40B4-BE49-F238E27FC236}">
                <a16:creationId xmlns:a16="http://schemas.microsoft.com/office/drawing/2014/main" id="{3C235DE1-C5FC-4C22-B0BD-53775B42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91150"/>
            <a:ext cx="11372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q4r2hr">
            <a:extLst xmlns:a="http://schemas.openxmlformats.org/drawingml/2006/main">
              <a:ext uri="{FF2B5EF4-FFF2-40B4-BE49-F238E27FC236}">
                <a16:creationId xmlns:a16="http://schemas.microsoft.com/office/drawing/2014/main" id="{48EB7509-CBB7-405C-91CA-ED91D1F9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Swing → API REST → JWT → JPA → H2</a:t>
            </a:r>
          </a:p>
        </p:txBody>
      </p:sp>
    </p:spTree>
    <p:extLst>
      <p:ext uri="{BB962C8B-B14F-4D97-AF65-F5344CB8AC3E}">
        <p14:creationId xmlns:p14="http://schemas.microsoft.com/office/powerpoint/2010/main" val="7258350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2026-06-24T21:22:47.9670000Z</dcterms:created>
  <dcterms:modified xsi:type="dcterms:W3CDTF">2026-06-24T21:22:47.9670000Z</dcterms:modified>
</coreProperties>
</file>